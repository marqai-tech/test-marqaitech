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325" y="314325"/>
            <a:ext cx="1400175" cy="971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4325" y="314325"/>
            <a:ext cx="1400175" cy="9715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358063" y="-842962"/>
            <a:ext cx="2471738" cy="2471738"/>
          </a:xfrm>
          <a:prstGeom prst="roundRect">
            <a:avLst>
              <a:gd name="adj" fmla="val 3853178"/>
            </a:avLst>
          </a:prstGeom>
          <a:noFill/>
          <a:ln w="314325">
            <a:solidFill>
              <a:srgbClr val="4A9A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713858" y="3943350"/>
            <a:ext cx="5430142" cy="120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0"/>
              </a:lnSpc>
              <a:buNone/>
            </a:pPr>
            <a:r>
              <a:rPr lang="en-US" sz="13050" b="1" spc="-337" kern="0" dirty="0">
                <a:solidFill>
                  <a:srgbClr val="FFFFFF">
                    <a:alpha val="4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HRMS</a:t>
            </a:r>
            <a:endParaRPr lang="en-US" sz="13050" dirty="0"/>
          </a:p>
        </p:txBody>
      </p:sp>
      <p:sp>
        <p:nvSpPr>
          <p:cNvPr id="6" name="Text 3"/>
          <p:cNvSpPr/>
          <p:nvPr/>
        </p:nvSpPr>
        <p:spPr>
          <a:xfrm>
            <a:off x="514350" y="628650"/>
            <a:ext cx="35719" cy="3886200"/>
          </a:xfrm>
          <a:prstGeom prst="roundRect">
            <a:avLst>
              <a:gd name="adj" fmla="val 79999"/>
            </a:avLst>
          </a:prstGeom>
          <a:solidFill>
            <a:srgbClr val="4A9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10828" y="589359"/>
            <a:ext cx="3105522" cy="225028"/>
          </a:xfrm>
          <a:prstGeom prst="roundRect">
            <a:avLst>
              <a:gd name="adj" fmla="val 4228574"/>
            </a:avLst>
          </a:prstGeom>
          <a:solidFill>
            <a:srgbClr val="7FC79B">
              <a:alpha val="12000"/>
            </a:srgbClr>
          </a:solidFill>
          <a:ln w="7144">
            <a:solidFill>
              <a:srgbClr val="7FC79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07256" y="585788"/>
            <a:ext cx="3112666" cy="324196"/>
          </a:xfrm>
          <a:prstGeom prst="rect">
            <a:avLst/>
          </a:prstGeom>
          <a:noFill/>
          <a:ln/>
        </p:spPr>
        <p:txBody>
          <a:bodyPr wrap="square" lIns="114300" tIns="50006" rIns="114300" bIns="50006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A8D8B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 OPERATING PROCEDURE · TRAINING GUIDE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7256" y="1032272"/>
            <a:ext cx="8236744" cy="981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78"/>
              </a:lnSpc>
              <a:buNone/>
            </a:pPr>
            <a:r>
              <a:rPr lang="en-US" sz="3375" b="1" spc="-101" kern="0" dirty="0">
                <a:solidFill>
                  <a:srgbClr val="F2F8F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3Boxes HRMS</a:t>
            </a:r>
            <a:endParaRPr lang="en-US" sz="3375" dirty="0"/>
          </a:p>
          <a:p>
            <a:pPr algn="l" indent="0" marL="0">
              <a:lnSpc>
                <a:spcPts val="3578"/>
              </a:lnSpc>
              <a:buNone/>
            </a:pPr>
            <a:r>
              <a:rPr lang="en-US" sz="3375" b="1" spc="-101" kern="0" dirty="0">
                <a:solidFill>
                  <a:srgbClr val="7FC79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 App</a:t>
            </a:r>
            <a:endParaRPr lang="en-US" sz="3375" dirty="0"/>
          </a:p>
        </p:txBody>
      </p:sp>
      <p:sp>
        <p:nvSpPr>
          <p:cNvPr id="10" name="Text 7"/>
          <p:cNvSpPr/>
          <p:nvPr/>
        </p:nvSpPr>
        <p:spPr>
          <a:xfrm>
            <a:off x="907256" y="2069455"/>
            <a:ext cx="7636669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spc="11" kern="0" dirty="0">
                <a:solidFill>
                  <a:srgbClr val="E9F3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Everyday operations for HR, Admin and Employees — on the go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907256" y="2426643"/>
            <a:ext cx="3071813" cy="90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1"/>
              </a:lnSpc>
              <a:buNone/>
            </a:pPr>
            <a:r>
              <a:rPr lang="en-US" sz="816" dirty="0">
                <a:solidFill>
                  <a:srgbClr val="F2F8F4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guide for the whole organisation: install and sign in, punch attendance with GPS, apply leave, read payslips, work project tasks, chat and keep your profile current — with clear rules on what employees may change themselves, what goes to HR/Admin for approval, and what stays locked.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907256" y="3438411"/>
            <a:ext cx="769404" cy="257775"/>
          </a:xfrm>
          <a:prstGeom prst="roundRect">
            <a:avLst>
              <a:gd name="adj" fmla="val 3691388"/>
            </a:avLst>
          </a:prstGeom>
          <a:solidFill>
            <a:srgbClr val="7FC79B">
              <a:alpha val="12000"/>
            </a:srgbClr>
          </a:solidFill>
          <a:ln w="7144">
            <a:solidFill>
              <a:srgbClr val="7FC79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07256" y="3451213"/>
            <a:ext cx="769404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3" kern="0" dirty="0">
                <a:solidFill>
                  <a:srgbClr val="A8D8B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 / ADMIN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748098" y="3438411"/>
            <a:ext cx="815615" cy="257775"/>
          </a:xfrm>
          <a:prstGeom prst="roundRect">
            <a:avLst>
              <a:gd name="adj" fmla="val 3691388"/>
            </a:avLst>
          </a:prstGeom>
          <a:solidFill>
            <a:srgbClr val="7FC79B">
              <a:alpha val="12000"/>
            </a:srgbClr>
          </a:solidFill>
          <a:ln w="7144">
            <a:solidFill>
              <a:srgbClr val="7FC79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748098" y="3451213"/>
            <a:ext cx="81561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3" kern="0" dirty="0">
                <a:solidFill>
                  <a:srgbClr val="A8D8B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5151" y="3438411"/>
            <a:ext cx="441127" cy="257775"/>
          </a:xfrm>
          <a:prstGeom prst="roundRect">
            <a:avLst>
              <a:gd name="adj" fmla="val 3691388"/>
            </a:avLst>
          </a:prstGeom>
          <a:solidFill>
            <a:srgbClr val="7FC79B">
              <a:alpha val="12000"/>
            </a:srgbClr>
          </a:solidFill>
          <a:ln w="7144">
            <a:solidFill>
              <a:srgbClr val="7FC79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35151" y="3451213"/>
            <a:ext cx="441127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3" kern="0" dirty="0">
                <a:solidFill>
                  <a:srgbClr val="A8D8B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CEO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147715" y="3438411"/>
            <a:ext cx="775655" cy="257775"/>
          </a:xfrm>
          <a:prstGeom prst="roundRect">
            <a:avLst>
              <a:gd name="adj" fmla="val 3691388"/>
            </a:avLst>
          </a:prstGeom>
          <a:solidFill>
            <a:srgbClr val="7FC79B">
              <a:alpha val="12000"/>
            </a:srgbClr>
          </a:solidFill>
          <a:ln w="7144">
            <a:solidFill>
              <a:srgbClr val="7FC79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147715" y="3451213"/>
            <a:ext cx="77565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3" kern="0" dirty="0">
                <a:solidFill>
                  <a:srgbClr val="A8D8B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07256" y="4639866"/>
            <a:ext cx="49683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F2F8F4">
                    <a:alpha val="6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3BOXES HRMS · EDITION 2026.10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889910" y="4436269"/>
            <a:ext cx="2654015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66"/>
              </a:lnSpc>
              <a:buNone/>
            </a:pPr>
            <a:r>
              <a:rPr lang="en-US" sz="703" b="1" dirty="0">
                <a:solidFill>
                  <a:srgbClr val="7FC79B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 version v1.7.0 (build 34) · Released October 2026</a:t>
            </a:r>
            <a:pPr algn="r" indent="0" marL="0">
              <a:lnSpc>
                <a:spcPts val="1266"/>
              </a:lnSpc>
              <a:buNone/>
            </a:pPr>
            <a:endParaRPr lang="en-US" sz="703" dirty="0"/>
          </a:p>
        </p:txBody>
      </p:sp>
      <p:sp>
        <p:nvSpPr>
          <p:cNvPr id="22" name="Text 19"/>
          <p:cNvSpPr/>
          <p:nvPr/>
        </p:nvSpPr>
        <p:spPr>
          <a:xfrm>
            <a:off x="5889910" y="4597003"/>
            <a:ext cx="2654015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6"/>
              </a:lnSpc>
              <a:buNone/>
            </a:pPr>
            <a:r>
              <a:rPr lang="en-US" sz="703" b="1" dirty="0">
                <a:solidFill>
                  <a:srgbClr val="7FC79B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pPr algn="r" indent="0" marL="0">
              <a:lnSpc>
                <a:spcPts val="1266"/>
              </a:lnSpc>
              <a:buNone/>
            </a:pPr>
            <a:r>
              <a:rPr lang="en-US" sz="703" dirty="0">
                <a:solidFill>
                  <a:srgbClr val="F2F8F4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Android APK · Distribution Web login page download only</a:t>
            </a:r>
            <a:endParaRPr lang="en-US" sz="70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659"/>
            <a:ext cx="1960527" cy="1466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3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ABOUT THIS TRAINING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85788"/>
            <a:ext cx="8636000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84"/>
              </a:lnSpc>
              <a:buNone/>
            </a:pPr>
            <a:r>
              <a:rPr lang="en-US" sz="1856" b="1" spc="-39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Who this is for — and how to get the app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460772" y="1100138"/>
            <a:ext cx="3293269" cy="1373832"/>
          </a:xfrm>
          <a:prstGeom prst="roundRect">
            <a:avLst>
              <a:gd name="adj" fmla="val 9706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7219" y="1232297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0257" y="1255335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336" dirty="0"/>
          </a:p>
        </p:txBody>
      </p:sp>
      <p:sp>
        <p:nvSpPr>
          <p:cNvPr id="7" name="Text 5"/>
          <p:cNvSpPr/>
          <p:nvPr/>
        </p:nvSpPr>
        <p:spPr>
          <a:xfrm>
            <a:off x="928688" y="1265337"/>
            <a:ext cx="2678906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Employees</a:t>
            </a:r>
            <a:endParaRPr lang="en-US" sz="928" dirty="0"/>
          </a:p>
        </p:txBody>
      </p:sp>
      <p:sp>
        <p:nvSpPr>
          <p:cNvPr id="8" name="Text 6"/>
          <p:cNvSpPr/>
          <p:nvPr/>
        </p:nvSpPr>
        <p:spPr>
          <a:xfrm>
            <a:off x="607219" y="1563838"/>
            <a:ext cx="843855" cy="212027"/>
          </a:xfrm>
          <a:prstGeom prst="roundRect">
            <a:avLst>
              <a:gd name="adj" fmla="val 4487860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7219" y="1575197"/>
            <a:ext cx="84385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punch attendance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01080" y="1563838"/>
            <a:ext cx="595275" cy="212027"/>
          </a:xfrm>
          <a:prstGeom prst="roundRect">
            <a:avLst>
              <a:gd name="adj" fmla="val 4487860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52445" y="1575197"/>
            <a:ext cx="69254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apply leave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46362" y="1563838"/>
            <a:ext cx="678210" cy="212027"/>
          </a:xfrm>
          <a:prstGeom prst="roundRect">
            <a:avLst>
              <a:gd name="adj" fmla="val 4487860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76852" y="1575197"/>
            <a:ext cx="81723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view payslips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7219" y="1803154"/>
            <a:ext cx="861492" cy="212027"/>
          </a:xfrm>
          <a:prstGeom prst="roundRect">
            <a:avLst>
              <a:gd name="adj" fmla="val 4487860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7219" y="1814513"/>
            <a:ext cx="86149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project tasks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518717" y="1803154"/>
            <a:ext cx="333077" cy="212027"/>
          </a:xfrm>
          <a:prstGeom prst="roundRect">
            <a:avLst>
              <a:gd name="adj" fmla="val 4487860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18717" y="1814513"/>
            <a:ext cx="33307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901800" y="1803154"/>
            <a:ext cx="905135" cy="212027"/>
          </a:xfrm>
          <a:prstGeom prst="roundRect">
            <a:avLst>
              <a:gd name="adj" fmla="val 4487860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01800" y="1814513"/>
            <a:ext cx="90513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profile current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0772" y="2573982"/>
            <a:ext cx="3293269" cy="1373832"/>
          </a:xfrm>
          <a:prstGeom prst="roundRect">
            <a:avLst>
              <a:gd name="adj" fmla="val 9706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7219" y="2706142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0257" y="2729180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336" dirty="0"/>
          </a:p>
        </p:txBody>
      </p:sp>
      <p:sp>
        <p:nvSpPr>
          <p:cNvPr id="23" name="Text 21"/>
          <p:cNvSpPr/>
          <p:nvPr/>
        </p:nvSpPr>
        <p:spPr>
          <a:xfrm>
            <a:off x="928688" y="2739182"/>
            <a:ext cx="2678906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 / Admin &amp; CEO</a:t>
            </a:r>
            <a:endParaRPr lang="en-US" sz="928" dirty="0"/>
          </a:p>
        </p:txBody>
      </p:sp>
      <p:sp>
        <p:nvSpPr>
          <p:cNvPr id="24" name="Text 22"/>
          <p:cNvSpPr/>
          <p:nvPr/>
        </p:nvSpPr>
        <p:spPr>
          <a:xfrm>
            <a:off x="607219" y="3034754"/>
            <a:ext cx="3110103" cy="164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Everything employees do, plus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7219" y="3217616"/>
            <a:ext cx="844079" cy="212027"/>
          </a:xfrm>
          <a:prstGeom prst="roundRect">
            <a:avLst>
              <a:gd name="adj" fmla="val 4487860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7219" y="3228975"/>
            <a:ext cx="84407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 records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01304" y="3217616"/>
            <a:ext cx="542702" cy="212027"/>
          </a:xfrm>
          <a:prstGeom prst="roundRect">
            <a:avLst>
              <a:gd name="adj" fmla="val 4487860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474337" y="3228975"/>
            <a:ext cx="59663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approvals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094012" y="3217616"/>
            <a:ext cx="442243" cy="212027"/>
          </a:xfrm>
          <a:prstGeom prst="roundRect">
            <a:avLst>
              <a:gd name="adj" fmla="val 4487860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079157" y="3228975"/>
            <a:ext cx="471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0791" y="3471863"/>
            <a:ext cx="1216558" cy="182166"/>
          </a:xfrm>
          <a:prstGeom prst="roundRect">
            <a:avLst>
              <a:gd name="adj" fmla="val 5223519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07219" y="3468291"/>
            <a:ext cx="1223702" cy="264345"/>
          </a:xfrm>
          <a:prstGeom prst="rect">
            <a:avLst/>
          </a:prstGeom>
          <a:noFill/>
          <a:ln/>
        </p:spPr>
        <p:txBody>
          <a:bodyPr wrap="square" lIns="78581" tIns="28575" rIns="78581" bIns="28575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attendance monitoring</a:t>
            </a:r>
            <a:endParaRPr lang="en-US" sz="619" dirty="0"/>
          </a:p>
        </p:txBody>
      </p:sp>
      <p:sp>
        <p:nvSpPr>
          <p:cNvPr id="33" name="Text 31"/>
          <p:cNvSpPr/>
          <p:nvPr/>
        </p:nvSpPr>
        <p:spPr>
          <a:xfrm>
            <a:off x="485775" y="40656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685800" y="4058543"/>
            <a:ext cx="3043238" cy="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8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mobile app mirrors the web — a task started on web finishes on mobile, and vice versa.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32634" y="1100138"/>
            <a:ext cx="4750594" cy="3232547"/>
          </a:xfrm>
          <a:prstGeom prst="roundRect">
            <a:avLst>
              <a:gd name="adj" fmla="val 4125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121944" y="1260872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144982" y="1283910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38" name="Text 36"/>
          <p:cNvSpPr/>
          <p:nvPr/>
        </p:nvSpPr>
        <p:spPr>
          <a:xfrm>
            <a:off x="4443413" y="1288554"/>
            <a:ext cx="4050506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984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Install the app (one time)</a:t>
            </a:r>
            <a:endParaRPr lang="en-US" sz="984" dirty="0"/>
          </a:p>
        </p:txBody>
      </p:sp>
      <p:sp>
        <p:nvSpPr>
          <p:cNvPr id="39" name="Shape 37"/>
          <p:cNvSpPr/>
          <p:nvPr/>
        </p:nvSpPr>
        <p:spPr>
          <a:xfrm>
            <a:off x="4121944" y="2013868"/>
            <a:ext cx="4371975" cy="0"/>
          </a:xfrm>
          <a:prstGeom prst="line">
            <a:avLst/>
          </a:prstGeom>
          <a:noFill/>
          <a:ln w="7144">
            <a:solidFill>
              <a:srgbClr val="D7E6DC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121944" y="1618059"/>
            <a:ext cx="200025" cy="200025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121944" y="1618059"/>
            <a:ext cx="2464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414838" y="1632347"/>
            <a:ext cx="4079081" cy="2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1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your company workspace</a:t>
            </a:r>
            <a:pPr algn="l" indent="0" marL="0">
              <a:lnSpc>
                <a:spcPts val="1151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 the phone browser (e.g. </a:t>
            </a:r>
            <a:pPr algn="l" indent="0" marL="0">
              <a:lnSpc>
                <a:spcPts val="1151"/>
              </a:lnSpc>
              <a:buNone/>
            </a:pPr>
            <a:r>
              <a:rPr lang="en-US" sz="800" dirty="0">
                <a:solidFill>
                  <a:srgbClr val="1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marqaitechgroup.3boxeshrms.com</a:t>
            </a:r>
            <a:pPr algn="l" indent="0" marL="0">
              <a:lnSpc>
                <a:spcPts val="1151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— the download section sits on the login page.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21944" y="2762957"/>
            <a:ext cx="4371975" cy="0"/>
          </a:xfrm>
          <a:prstGeom prst="line">
            <a:avLst/>
          </a:prstGeom>
          <a:noFill/>
          <a:ln w="7144">
            <a:solidFill>
              <a:srgbClr val="D7E6DC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121944" y="2473635"/>
            <a:ext cx="200025" cy="200025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121944" y="2473635"/>
            <a:ext cx="2464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414838" y="2487923"/>
            <a:ext cx="407908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1"/>
              </a:lnSpc>
              <a:buNone/>
            </a:pPr>
            <a:r>
              <a:rPr lang="en-US" sz="74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Tap the Android app download button — the current release APK (v1.7.0) downloads.</a:t>
            </a:r>
            <a:pPr algn="l" indent="0" marL="0">
              <a:lnSpc>
                <a:spcPts val="1151"/>
              </a:lnSpc>
              <a:buNone/>
            </a:pPr>
            <a:endParaRPr lang="en-US" sz="742" dirty="0"/>
          </a:p>
        </p:txBody>
      </p:sp>
      <p:sp>
        <p:nvSpPr>
          <p:cNvPr id="47" name="Shape 45"/>
          <p:cNvSpPr/>
          <p:nvPr/>
        </p:nvSpPr>
        <p:spPr>
          <a:xfrm>
            <a:off x="4121944" y="3512046"/>
            <a:ext cx="4371975" cy="0"/>
          </a:xfrm>
          <a:prstGeom prst="line">
            <a:avLst/>
          </a:prstGeom>
          <a:noFill/>
          <a:ln w="7144">
            <a:solidFill>
              <a:srgbClr val="D7E6DC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121944" y="3222724"/>
            <a:ext cx="200025" cy="200025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121944" y="3222724"/>
            <a:ext cx="2464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414838" y="3237012"/>
            <a:ext cx="407908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1"/>
              </a:lnSpc>
              <a:buNone/>
            </a:pPr>
            <a:r>
              <a:rPr lang="en-US" sz="74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Allow 'Install unknown apps'</a:t>
            </a:r>
            <a:pPr algn="l" indent="0" marL="0">
              <a:lnSpc>
                <a:spcPts val="1151"/>
              </a:lnSpc>
              <a:buNone/>
            </a:pPr>
            <a:r>
              <a:rPr lang="en-US" sz="742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your browser once, then confirm the install.</a:t>
            </a:r>
            <a:endParaRPr lang="en-US" sz="742" dirty="0"/>
          </a:p>
        </p:txBody>
      </p:sp>
      <p:sp>
        <p:nvSpPr>
          <p:cNvPr id="51" name="Text 49"/>
          <p:cNvSpPr/>
          <p:nvPr/>
        </p:nvSpPr>
        <p:spPr>
          <a:xfrm>
            <a:off x="4121944" y="3971813"/>
            <a:ext cx="200025" cy="200025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121944" y="3971813"/>
            <a:ext cx="2464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414838" y="3986101"/>
            <a:ext cx="407908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1"/>
              </a:lnSpc>
              <a:buNone/>
            </a:pPr>
            <a:r>
              <a:rPr lang="en-US" sz="74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Upgrades install in place over the old version</a:t>
            </a:r>
            <a:pPr algn="l" indent="0" marL="0">
              <a:lnSpc>
                <a:spcPts val="1151"/>
              </a:lnSpc>
              <a:buNone/>
            </a:pPr>
            <a:r>
              <a:rPr lang="en-US" sz="742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permanent signing key, no uninstall needed.</a:t>
            </a:r>
            <a:endParaRPr lang="en-US" sz="742" dirty="0"/>
          </a:p>
        </p:txBody>
      </p:sp>
      <p:sp>
        <p:nvSpPr>
          <p:cNvPr id="54" name="Text 52"/>
          <p:cNvSpPr/>
          <p:nvPr/>
        </p:nvSpPr>
        <p:spPr>
          <a:xfrm>
            <a:off x="460772" y="4454128"/>
            <a:ext cx="8222456" cy="342900"/>
          </a:xfrm>
          <a:prstGeom prst="roundRect">
            <a:avLst>
              <a:gd name="adj" fmla="val 33333"/>
            </a:avLst>
          </a:prstGeom>
          <a:solidFill>
            <a:srgbClr val="E2F2E8"/>
          </a:solidFill>
          <a:ln w="7144">
            <a:solidFill>
              <a:srgbClr val="C4E2D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07219" y="4550569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477" dirty="0"/>
          </a:p>
        </p:txBody>
      </p:sp>
      <p:sp>
        <p:nvSpPr>
          <p:cNvPr id="56" name="Text 54"/>
          <p:cNvSpPr/>
          <p:nvPr/>
        </p:nvSpPr>
        <p:spPr>
          <a:xfrm>
            <a:off x="850106" y="4553248"/>
            <a:ext cx="7686675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C3A2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APK only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C3A2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downloaded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C3A2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C3A2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from the web login page. No Play Store listing, no PWA shortcut.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659"/>
            <a:ext cx="1930438" cy="1466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3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RELEASE HIGHLIGHTS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85788"/>
            <a:ext cx="3565624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84"/>
              </a:lnSpc>
              <a:buNone/>
            </a:pPr>
            <a:r>
              <a:rPr lang="en-US" sz="1856" b="1" spc="-39" kern="0" dirty="0">
                <a:solidFill>
                  <a:srgbClr val="1235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What's new in v1.7.0 (build 34)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7516475" y="801207"/>
            <a:ext cx="1193185" cy="146018"/>
          </a:xfrm>
          <a:prstGeom prst="roundRect">
            <a:avLst>
              <a:gd name="adj" fmla="val 6516645"/>
            </a:avLst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39335" y="809030"/>
            <a:ext cx="114746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68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OCTOBER 2026 RELEASE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0772" y="1100138"/>
            <a:ext cx="4745794" cy="1780580"/>
          </a:xfrm>
          <a:prstGeom prst="roundRect">
            <a:avLst>
              <a:gd name="adj" fmla="val 7489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232297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9724" y="126051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9" name="Text 7"/>
          <p:cNvSpPr/>
          <p:nvPr/>
        </p:nvSpPr>
        <p:spPr>
          <a:xfrm>
            <a:off x="935831" y="1270695"/>
            <a:ext cx="4110000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Brand-new sign-in experience</a:t>
            </a:r>
            <a:endParaRPr lang="en-US" sz="872" dirty="0"/>
          </a:p>
        </p:txBody>
      </p:sp>
      <p:sp>
        <p:nvSpPr>
          <p:cNvPr id="10" name="Text 8"/>
          <p:cNvSpPr/>
          <p:nvPr/>
        </p:nvSpPr>
        <p:spPr>
          <a:xfrm>
            <a:off x="621506" y="1560909"/>
            <a:ext cx="4424325" cy="82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506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starry welcome screen with the 3Boxes HRMS logo — "Your workplace, in one place"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06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sign-in tabs: Mobile Number (+91, one-time code) or Employee ID + password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06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6-box OTP verification with resend countdown; code arrives by SMS AND email with a per-channel status chip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06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Face ID / fingerprint unlock after first sign-in — opening the app takes a second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28010" y="1100138"/>
            <a:ext cx="3355218" cy="1780580"/>
          </a:xfrm>
          <a:prstGeom prst="roundRect">
            <a:avLst>
              <a:gd name="adj" fmla="val 7489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88744" y="1232297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16962" y="126051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266" dirty="0"/>
          </a:p>
        </p:txBody>
      </p:sp>
      <p:sp>
        <p:nvSpPr>
          <p:cNvPr id="14" name="Text 12"/>
          <p:cNvSpPr/>
          <p:nvPr/>
        </p:nvSpPr>
        <p:spPr>
          <a:xfrm>
            <a:off x="5803069" y="1270695"/>
            <a:ext cx="271942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 Help Desk</a:t>
            </a:r>
            <a:endParaRPr lang="en-US" sz="872" dirty="0"/>
          </a:p>
        </p:txBody>
      </p:sp>
      <p:sp>
        <p:nvSpPr>
          <p:cNvPr id="15" name="Text 13"/>
          <p:cNvSpPr/>
          <p:nvPr/>
        </p:nvSpPr>
        <p:spPr>
          <a:xfrm>
            <a:off x="5488744" y="1560909"/>
            <a:ext cx="3033750" cy="619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506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raise, track and reply to support tickets from the phone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06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 ticketing system as the web app (Support &amp; AI → Help Desk)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06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Contact HR on the login screen raises a pre-login ticket — HR/Admin/IT get app + email alerts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0772" y="3002161"/>
            <a:ext cx="3355107" cy="1780580"/>
          </a:xfrm>
          <a:prstGeom prst="roundRect">
            <a:avLst>
              <a:gd name="adj" fmla="val 7489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1506" y="3134320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9724" y="316253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935831" y="3172718"/>
            <a:ext cx="271931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Smarter Home dashboard</a:t>
            </a:r>
            <a:endParaRPr lang="en-US" sz="872" dirty="0"/>
          </a:p>
        </p:txBody>
      </p:sp>
      <p:sp>
        <p:nvSpPr>
          <p:cNvPr id="20" name="Text 18"/>
          <p:cNvSpPr/>
          <p:nvPr/>
        </p:nvSpPr>
        <p:spPr>
          <a:xfrm>
            <a:off x="621506" y="3462933"/>
            <a:ext cx="3033638" cy="96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506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auto-rotating announcements banner from the company feed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06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Compact one-screen Home — no vertical scrolling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06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KPI strip (worked today · month % · on leave) + colourful 4-column Quick Access grid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06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slim birthdays card with Send Wishes; login keypad &amp; Remember-me fixes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7322" y="3002161"/>
            <a:ext cx="2659931" cy="1780580"/>
          </a:xfrm>
          <a:prstGeom prst="roundRect">
            <a:avLst>
              <a:gd name="adj" fmla="val 7489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98057" y="3134320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126275" y="316253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412382" y="3172718"/>
            <a:ext cx="2024137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Chat everywhere</a:t>
            </a:r>
            <a:endParaRPr lang="en-US" sz="872" dirty="0"/>
          </a:p>
        </p:txBody>
      </p:sp>
      <p:sp>
        <p:nvSpPr>
          <p:cNvPr id="25" name="Text 23"/>
          <p:cNvSpPr/>
          <p:nvPr/>
        </p:nvSpPr>
        <p:spPr>
          <a:xfrm>
            <a:off x="4098057" y="3462933"/>
            <a:ext cx="2338462" cy="690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506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Chat joins the bottom navigation: Home · Chat · Attendance · Profile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06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SmartHR restyle — gradient header, All/Direct/Channels/Unread chips, Quick chat strip, red unread badges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18697" y="3002161"/>
            <a:ext cx="1964531" cy="1780580"/>
          </a:xfrm>
          <a:prstGeom prst="roundRect">
            <a:avLst>
              <a:gd name="adj" fmla="val 7489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79431" y="3134320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907649" y="316253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7193756" y="3172718"/>
            <a:ext cx="1328738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 parity</a:t>
            </a:r>
            <a:endParaRPr lang="en-US" sz="872" dirty="0"/>
          </a:p>
        </p:txBody>
      </p:sp>
      <p:sp>
        <p:nvSpPr>
          <p:cNvPr id="30" name="Text 28"/>
          <p:cNvSpPr/>
          <p:nvPr/>
        </p:nvSpPr>
        <p:spPr>
          <a:xfrm>
            <a:off x="6879431" y="3462933"/>
            <a:ext cx="1643063" cy="67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506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announcements banner on the employee dashboard (web)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06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ticketing queue, two front-ends — start on phone, finish on web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659"/>
            <a:ext cx="1666131" cy="1466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3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GETTING STARTED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85788"/>
            <a:ext cx="8636000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84"/>
              </a:lnSpc>
              <a:buNone/>
            </a:pPr>
            <a:r>
              <a:rPr lang="en-US" sz="1856" b="1" spc="-39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brand-new way in — mobile number, employee ID, OTP &amp; fingerprint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460772" y="1100138"/>
            <a:ext cx="4577693" cy="667941"/>
          </a:xfrm>
          <a:prstGeom prst="roundRect">
            <a:avLst>
              <a:gd name="adj" fmla="val 1996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7219" y="1326952"/>
            <a:ext cx="214313" cy="214313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7219" y="1326952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21544" y="1294805"/>
            <a:ext cx="39704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Starry welcome screen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deep-navy sky, the 3Boxes HRMS logo card, tagline "Your workplace, in one place". Tap the arrow to continue.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0772" y="1853803"/>
            <a:ext cx="4577693" cy="667941"/>
          </a:xfrm>
          <a:prstGeom prst="roundRect">
            <a:avLst>
              <a:gd name="adj" fmla="val 1996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7219" y="2080617"/>
            <a:ext cx="214313" cy="214313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7219" y="2080617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21544" y="2048470"/>
            <a:ext cx="39704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Pick a tab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violet gradient header with two sign-in methods: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 Number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or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 ID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Both lead to the same account.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0772" y="2607469"/>
            <a:ext cx="4577693" cy="667941"/>
          </a:xfrm>
          <a:prstGeom prst="roundRect">
            <a:avLst>
              <a:gd name="adj" fmla="val 1996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7219" y="2834283"/>
            <a:ext cx="214313" cy="214313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7219" y="2834283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21544" y="2732484"/>
            <a:ext cx="397047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 Number tab — country code (+91 default) + registered number → Continue → sends a 6-digit code by SMS and email. Employee ID tab — full alphanumeric keypad opens; ID/email + password, Remember me, Sign in.</a:t>
            </a:r>
            <a:pPr algn="l" indent="0" marL="0">
              <a:lnSpc>
                <a:spcPts val="1097"/>
              </a:lnSpc>
              <a:buNone/>
            </a:pPr>
            <a:pPr algn="l" indent="0" marL="0">
              <a:lnSpc>
                <a:spcPts val="1097"/>
              </a:lnSpc>
              <a:buNone/>
            </a:pPr>
            <a:pPr algn="l" indent="0" marL="0">
              <a:lnSpc>
                <a:spcPts val="1097"/>
              </a:lnSpc>
              <a:buNone/>
            </a:pPr>
            <a:pPr algn="l" indent="0" marL="0">
              <a:lnSpc>
                <a:spcPts val="1097"/>
              </a:lnSpc>
              <a:buNone/>
            </a:pPr>
            <a:pPr algn="l" indent="0" marL="0">
              <a:lnSpc>
                <a:spcPts val="1097"/>
              </a:lnSpc>
              <a:buNone/>
            </a:pP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0772" y="3361134"/>
            <a:ext cx="4577693" cy="667941"/>
          </a:xfrm>
          <a:prstGeom prst="roundRect">
            <a:avLst>
              <a:gd name="adj" fmla="val 1996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7219" y="3587948"/>
            <a:ext cx="214313" cy="214313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7219" y="3587948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21544" y="3555802"/>
            <a:ext cx="39704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Verify your number (OTP) — six code boxes, resend countdown, Change number link. The code arrives by SMS AND email — the chip shows which channel carried it; tap Verify &amp; continue.</a:t>
            </a:r>
            <a:pPr algn="l" indent="0" marL="0">
              <a:lnSpc>
                <a:spcPts val="1097"/>
              </a:lnSpc>
              <a:buNone/>
            </a:pPr>
            <a:pPr algn="l" indent="0" marL="0">
              <a:lnSpc>
                <a:spcPts val="1097"/>
              </a:lnSpc>
              <a:buNone/>
            </a:pPr>
            <a:pPr algn="l" indent="0" marL="0">
              <a:lnSpc>
                <a:spcPts val="1097"/>
              </a:lnSpc>
              <a:buNone/>
            </a:pP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0772" y="4114800"/>
            <a:ext cx="4577693" cy="667941"/>
          </a:xfrm>
          <a:prstGeom prst="roundRect">
            <a:avLst>
              <a:gd name="adj" fmla="val 1996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7219" y="4341614"/>
            <a:ext cx="214313" cy="214313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7219" y="4341614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21544" y="4309467"/>
            <a:ext cx="39704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Enable fingerprint / Face ID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offered after the first sign-in; the next launch opens with a biometric prompt instead of the keyboard.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17058" y="1100138"/>
            <a:ext cx="3466170" cy="1165659"/>
          </a:xfrm>
          <a:prstGeom prst="roundRect">
            <a:avLst>
              <a:gd name="adj" fmla="val 11440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63505" y="1336886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91723" y="136510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677830" y="1377962"/>
            <a:ext cx="285895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OTP tips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5363505" y="1636923"/>
            <a:ext cx="3173276" cy="493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9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 goes out by SMS and email in parallel — check both. The status chip shows what was sent. Nothing arrived? One tap raises an HR ticket (demo workspace shows the code inline).</a:t>
            </a:r>
            <a:pPr algn="l" indent="0" marL="0">
              <a:lnSpc>
                <a:spcPts val="1029"/>
              </a:lnSpc>
              <a:buNone/>
            </a:pPr>
            <a:pPr algn="l" indent="0" marL="0">
              <a:lnSpc>
                <a:spcPts val="1029"/>
              </a:lnSpc>
              <a:buNone/>
            </a:pP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7058" y="2358665"/>
            <a:ext cx="3466170" cy="1165659"/>
          </a:xfrm>
          <a:prstGeom prst="roundRect">
            <a:avLst>
              <a:gd name="adj" fmla="val 11440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63505" y="2660712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391723" y="268893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677830" y="2701789"/>
            <a:ext cx="285895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Biometric unlock</a:t>
            </a:r>
            <a:endParaRPr lang="en-US" sz="844" dirty="0"/>
          </a:p>
        </p:txBody>
      </p:sp>
      <p:sp>
        <p:nvSpPr>
          <p:cNvPr id="33" name="Text 31"/>
          <p:cNvSpPr/>
          <p:nvPr/>
        </p:nvSpPr>
        <p:spPr>
          <a:xfrm>
            <a:off x="5363505" y="2960750"/>
            <a:ext cx="3173276" cy="32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9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Tied to the device's own fingerprint / face store — a colleague's finger simply will not open your app. On shared devices skip biometrics and sign out after use.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17058" y="3617193"/>
            <a:ext cx="3466170" cy="1165659"/>
          </a:xfrm>
          <a:prstGeom prst="roundRect">
            <a:avLst>
              <a:gd name="adj" fmla="val 11440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63505" y="3919240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391723" y="394745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677830" y="3960316"/>
            <a:ext cx="285895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employee? Contact HR</a:t>
            </a:r>
            <a:endParaRPr lang="en-US" sz="844" dirty="0"/>
          </a:p>
        </p:txBody>
      </p:sp>
      <p:sp>
        <p:nvSpPr>
          <p:cNvPr id="38" name="Text 36"/>
          <p:cNvSpPr/>
          <p:nvPr/>
        </p:nvSpPr>
        <p:spPr>
          <a:xfrm>
            <a:off x="5363505" y="4219277"/>
            <a:ext cx="3173276" cy="32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9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Contact HR now raises a REAL help-desk ticket (issue type + Employee ID + description) — HR/Admin/IT Admin get in-app and email alerts instantly; you see the ticket number on screen.</a:t>
            </a:r>
            <a:pPr algn="l" indent="0" marL="0">
              <a:lnSpc>
                <a:spcPts val="1029"/>
              </a:lnSpc>
              <a:buNone/>
            </a:pPr>
            <a:pPr algn="l" indent="0" marL="0">
              <a:lnSpc>
                <a:spcPts val="1029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659"/>
            <a:ext cx="1685293" cy="1466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3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HOME DASHBOARD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85788"/>
            <a:ext cx="8636000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84"/>
              </a:lnSpc>
              <a:buNone/>
            </a:pPr>
            <a:r>
              <a:rPr lang="en-US" sz="1856" b="1" spc="-39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operations hub — compact, colourful, one screen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460772" y="1085850"/>
            <a:ext cx="4751710" cy="1108621"/>
          </a:xfrm>
          <a:prstGeom prst="roundRect">
            <a:avLst>
              <a:gd name="adj" fmla="val 12028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506" y="1203722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2580" y="122479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921544" y="1234976"/>
            <a:ext cx="4130204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Punch tabs</a:t>
            </a:r>
            <a:endParaRPr lang="en-US" sz="872" dirty="0"/>
          </a:p>
        </p:txBody>
      </p:sp>
      <p:sp>
        <p:nvSpPr>
          <p:cNvPr id="8" name="Text 6"/>
          <p:cNvSpPr/>
          <p:nvPr/>
        </p:nvSpPr>
        <p:spPr>
          <a:xfrm>
            <a:off x="621506" y="1509117"/>
            <a:ext cx="4430241" cy="158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4"/>
              </a:lnSpc>
              <a:buNone/>
            </a:pPr>
            <a:r>
              <a:rPr lang="en-US" sz="72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 / Break / Leave tabs</a:t>
            </a:r>
            <a:pPr algn="l" indent="0" marL="0">
              <a:lnSpc>
                <a:spcPts val="1044"/>
              </a:lnSpc>
              <a:buNone/>
            </a:pPr>
            <a:r>
              <a:rPr lang="en-US" sz="72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fingerprint-style punch buttons; label flips to Check Out while checked in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621506" y="1709589"/>
            <a:ext cx="4430241" cy="158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4"/>
              </a:lnSpc>
              <a:buNone/>
            </a:pPr>
            <a:r>
              <a:rPr lang="en-US" sz="72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KPI strip — worked today (live), month attendance %, on-leave colleagues</a:t>
            </a:r>
            <a:pPr algn="l" indent="0" marL="0">
              <a:lnSpc>
                <a:spcPts val="1044"/>
              </a:lnSpc>
              <a:buNone/>
            </a:pP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21506" y="1910060"/>
            <a:ext cx="4430241" cy="158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4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Tap through — Attendance · attendance report · Directory</a:t>
            </a:r>
            <a:pPr algn="l" indent="0" marL="0">
              <a:lnSpc>
                <a:spcPts val="1044"/>
              </a:lnSpc>
              <a:buNone/>
            </a:pP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19638" y="1085850"/>
            <a:ext cx="3363478" cy="1108621"/>
          </a:xfrm>
          <a:prstGeom prst="roundRect">
            <a:avLst>
              <a:gd name="adj" fmla="val 12028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66085" y="1203722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87159" y="122479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266" dirty="0"/>
          </a:p>
        </p:txBody>
      </p:sp>
      <p:sp>
        <p:nvSpPr>
          <p:cNvPr id="14" name="Text 12"/>
          <p:cNvSpPr/>
          <p:nvPr/>
        </p:nvSpPr>
        <p:spPr>
          <a:xfrm>
            <a:off x="5766122" y="1234976"/>
            <a:ext cx="2770547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Announcements banner</a:t>
            </a:r>
            <a:endParaRPr lang="en-US" sz="872" dirty="0"/>
          </a:p>
        </p:txBody>
      </p:sp>
      <p:sp>
        <p:nvSpPr>
          <p:cNvPr id="15" name="Text 13"/>
          <p:cNvSpPr/>
          <p:nvPr/>
        </p:nvSpPr>
        <p:spPr>
          <a:xfrm>
            <a:off x="5466085" y="1503759"/>
            <a:ext cx="3070585" cy="59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auto-rotates pinned posts &amp; HR announcements from the company feed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tap to open the full Announcements list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HR posts on web reaches every phone in seconds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0772" y="2301627"/>
            <a:ext cx="3363478" cy="1201043"/>
          </a:xfrm>
          <a:prstGeom prst="roundRect">
            <a:avLst>
              <a:gd name="adj" fmla="val 11103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7219" y="2419499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8293" y="244057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907256" y="2450753"/>
            <a:ext cx="2770547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 week Attendance</a:t>
            </a:r>
            <a:endParaRPr lang="en-US" sz="872" dirty="0"/>
          </a:p>
        </p:txBody>
      </p:sp>
      <p:sp>
        <p:nvSpPr>
          <p:cNvPr id="20" name="Text 18"/>
          <p:cNvSpPr/>
          <p:nvPr/>
        </p:nvSpPr>
        <p:spPr>
          <a:xfrm>
            <a:off x="607219" y="2719536"/>
            <a:ext cx="3070585" cy="59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banner → punch tabs → KPI strip → Quick Access grid → slim birthdays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screen, no scrolling — the weekly hours breakdown lives in Attendance reports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less-used destinations moved to the ☰ drawer to keep the dashboard lean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1407" y="2301627"/>
            <a:ext cx="4751710" cy="1201043"/>
          </a:xfrm>
          <a:prstGeom prst="roundRect">
            <a:avLst>
              <a:gd name="adj" fmla="val 11103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92141" y="2419499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113215" y="244057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392178" y="2450753"/>
            <a:ext cx="4130204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Quick Access grid — one tap to everything</a:t>
            </a:r>
            <a:endParaRPr lang="en-US" sz="872" dirty="0"/>
          </a:p>
        </p:txBody>
      </p:sp>
      <p:sp>
        <p:nvSpPr>
          <p:cNvPr id="25" name="Text 23"/>
          <p:cNvSpPr/>
          <p:nvPr/>
        </p:nvSpPr>
        <p:spPr>
          <a:xfrm>
            <a:off x="4206441" y="2733824"/>
            <a:ext cx="242888" cy="242888"/>
          </a:xfrm>
          <a:prstGeom prst="roundRect">
            <a:avLst>
              <a:gd name="adj" fmla="val 43137"/>
            </a:avLst>
          </a:prstGeom>
          <a:solidFill>
            <a:srgbClr val="FEF3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239838" y="2767221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5A62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195" dirty="0"/>
          </a:p>
        </p:txBody>
      </p:sp>
      <p:sp>
        <p:nvSpPr>
          <p:cNvPr id="27" name="Text 25"/>
          <p:cNvSpPr/>
          <p:nvPr/>
        </p:nvSpPr>
        <p:spPr>
          <a:xfrm>
            <a:off x="4164837" y="2998143"/>
            <a:ext cx="409712" cy="16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6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Requests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735078" y="2733824"/>
            <a:ext cx="242888" cy="242888"/>
          </a:xfrm>
          <a:prstGeom prst="roundRect">
            <a:avLst>
              <a:gd name="adj" fmla="val 43137"/>
            </a:avLst>
          </a:prstGeom>
          <a:solidFill>
            <a:srgbClr val="E9E6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68475" y="2767221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6C8FE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195" dirty="0"/>
          </a:p>
        </p:txBody>
      </p:sp>
      <p:sp>
        <p:nvSpPr>
          <p:cNvPr id="30" name="Text 28"/>
          <p:cNvSpPr/>
          <p:nvPr/>
        </p:nvSpPr>
        <p:spPr>
          <a:xfrm>
            <a:off x="4669065" y="2998143"/>
            <a:ext cx="456468" cy="16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6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Directory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263716" y="2733824"/>
            <a:ext cx="242888" cy="242888"/>
          </a:xfrm>
          <a:prstGeom prst="roundRect">
            <a:avLst>
              <a:gd name="adj" fmla="val 43137"/>
            </a:avLst>
          </a:prstGeom>
          <a:solidFill>
            <a:srgbClr val="E6F9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97113" y="2767221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C38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195" dirty="0"/>
          </a:p>
        </p:txBody>
      </p:sp>
      <p:sp>
        <p:nvSpPr>
          <p:cNvPr id="33" name="Text 31"/>
          <p:cNvSpPr/>
          <p:nvPr/>
        </p:nvSpPr>
        <p:spPr>
          <a:xfrm>
            <a:off x="5217987" y="2998143"/>
            <a:ext cx="409712" cy="16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6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Payslips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792353" y="2733824"/>
            <a:ext cx="242888" cy="242888"/>
          </a:xfrm>
          <a:prstGeom prst="roundRect">
            <a:avLst>
              <a:gd name="adj" fmla="val 43137"/>
            </a:avLst>
          </a:prstGeom>
          <a:solidFill>
            <a:srgbClr val="F1ED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825750" y="2767221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7C6F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95" dirty="0"/>
          </a:p>
        </p:txBody>
      </p:sp>
      <p:sp>
        <p:nvSpPr>
          <p:cNvPr id="36" name="Text 34"/>
          <p:cNvSpPr/>
          <p:nvPr/>
        </p:nvSpPr>
        <p:spPr>
          <a:xfrm>
            <a:off x="5732971" y="2998143"/>
            <a:ext cx="462915" cy="16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6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Documents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320991" y="2733824"/>
            <a:ext cx="242888" cy="242888"/>
          </a:xfrm>
          <a:prstGeom prst="roundRect">
            <a:avLst>
              <a:gd name="adj" fmla="val 43137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54388" y="2767221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95" dirty="0"/>
          </a:p>
        </p:txBody>
      </p:sp>
      <p:sp>
        <p:nvSpPr>
          <p:cNvPr id="39" name="Text 37"/>
          <p:cNvSpPr/>
          <p:nvPr/>
        </p:nvSpPr>
        <p:spPr>
          <a:xfrm>
            <a:off x="6265469" y="2998143"/>
            <a:ext cx="443880" cy="16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6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 Desk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849628" y="2733824"/>
            <a:ext cx="242888" cy="242888"/>
          </a:xfrm>
          <a:prstGeom prst="roundRect">
            <a:avLst>
              <a:gd name="adj" fmla="val 43137"/>
            </a:avLst>
          </a:prstGeom>
          <a:solidFill>
            <a:srgbClr val="FDE7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83025" y="2767221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278B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195" dirty="0"/>
          </a:p>
        </p:txBody>
      </p:sp>
      <p:sp>
        <p:nvSpPr>
          <p:cNvPr id="42" name="Text 40"/>
          <p:cNvSpPr/>
          <p:nvPr/>
        </p:nvSpPr>
        <p:spPr>
          <a:xfrm>
            <a:off x="6875078" y="2998143"/>
            <a:ext cx="303341" cy="16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6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Feeds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378266" y="2733824"/>
            <a:ext cx="242888" cy="242888"/>
          </a:xfrm>
          <a:prstGeom prst="roundRect">
            <a:avLst>
              <a:gd name="adj" fmla="val 43137"/>
            </a:avLst>
          </a:prstGeom>
          <a:solidFill>
            <a:srgbClr val="FDF3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411663" y="2767221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95" dirty="0"/>
          </a:p>
        </p:txBody>
      </p:sp>
      <p:sp>
        <p:nvSpPr>
          <p:cNvPr id="45" name="Text 43"/>
          <p:cNvSpPr/>
          <p:nvPr/>
        </p:nvSpPr>
        <p:spPr>
          <a:xfrm>
            <a:off x="7336755" y="2998143"/>
            <a:ext cx="403418" cy="16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6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Reports*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7906903" y="2733824"/>
            <a:ext cx="242888" cy="242888"/>
          </a:xfrm>
          <a:prstGeom prst="roundRect">
            <a:avLst>
              <a:gd name="adj" fmla="val 43137"/>
            </a:avLst>
          </a:prstGeom>
          <a:solidFill>
            <a:srgbClr val="E6F7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940300" y="2767221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EA5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95" dirty="0"/>
          </a:p>
        </p:txBody>
      </p:sp>
      <p:sp>
        <p:nvSpPr>
          <p:cNvPr id="48" name="Text 46"/>
          <p:cNvSpPr/>
          <p:nvPr/>
        </p:nvSpPr>
        <p:spPr>
          <a:xfrm>
            <a:off x="7792306" y="2998143"/>
            <a:ext cx="531099" cy="16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6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Att. Report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092141" y="3097709"/>
            <a:ext cx="4430241" cy="287089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* Reports &amp; Team Att. appear for HR/Admin roles · 4-column grid; full menu in the ☰ drawer · bottom navigation Home · Chat · Attendance · Profile with a floating chat bubble</a:t>
            </a:r>
            <a:pPr algn="l" indent="0" marL="0">
              <a:lnSpc>
                <a:spcPts val="906"/>
              </a:lnSpc>
              <a:buNone/>
            </a:pPr>
            <a:pPr algn="l" indent="0" marL="0">
              <a:lnSpc>
                <a:spcPts val="906"/>
              </a:lnSpc>
              <a:buNone/>
            </a:pPr>
            <a:pPr algn="l" indent="0" marL="0">
              <a:lnSpc>
                <a:spcPts val="906"/>
              </a:lnSpc>
              <a:buNone/>
            </a:pP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0772" y="3609826"/>
            <a:ext cx="3363478" cy="1172914"/>
          </a:xfrm>
          <a:prstGeom prst="roundRect">
            <a:avLst>
              <a:gd name="adj" fmla="val 11369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07219" y="3727698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28293" y="374877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53" name="Text 51"/>
          <p:cNvSpPr/>
          <p:nvPr/>
        </p:nvSpPr>
        <p:spPr>
          <a:xfrm>
            <a:off x="907256" y="3758952"/>
            <a:ext cx="2770547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Birthdays &amp; organization</a:t>
            </a:r>
            <a:endParaRPr lang="en-US" sz="872" dirty="0"/>
          </a:p>
        </p:txBody>
      </p:sp>
      <p:sp>
        <p:nvSpPr>
          <p:cNvPr id="54" name="Text 52"/>
          <p:cNvSpPr/>
          <p:nvPr/>
        </p:nvSpPr>
        <p:spPr>
          <a:xfrm>
            <a:off x="607219" y="4027736"/>
            <a:ext cx="3070585" cy="732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slim card — today's celebrants with Send Wishes; one upcoming count line; hidden when empty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Send Wishes — instant in-app + email greeting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KPI strip: on-leave colleagues of company total — same live numbers as admin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659"/>
            <a:ext cx="1624165" cy="1466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3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ATTENDANCE SOP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85788"/>
            <a:ext cx="8636000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84"/>
              </a:lnSpc>
              <a:buNone/>
            </a:pPr>
            <a:r>
              <a:rPr lang="en-US" sz="1856" b="1" spc="-39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Punch with GPS — regularise the misses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460772" y="1100138"/>
            <a:ext cx="1835944" cy="1124583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4356" y="1218009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2574" y="124622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2007394" y="1246584"/>
            <a:ext cx="185738" cy="185738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07394" y="124658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4356" y="1525191"/>
            <a:ext cx="16287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Enable location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4356" y="1734145"/>
            <a:ext cx="1628775" cy="329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GPS must be ON before punching; keep device time automatic.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371725" y="1555217"/>
            <a:ext cx="142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2589609" y="1100138"/>
            <a:ext cx="1835944" cy="1124583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693194" y="1218009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21412" y="124622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4136231" y="1246584"/>
            <a:ext cx="185738" cy="185738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36231" y="124658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93194" y="1525191"/>
            <a:ext cx="16287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 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93194" y="1734145"/>
            <a:ext cx="1628775" cy="3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Home quick card or Attendance module; the card shows today's status and hours so far.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00563" y="1555217"/>
            <a:ext cx="142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718447" y="1100138"/>
            <a:ext cx="1835944" cy="1124583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22031" y="1218009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50249" y="124622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6265069" y="1246584"/>
            <a:ext cx="185738" cy="185738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65069" y="124658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22031" y="1525191"/>
            <a:ext cx="16287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Breaks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22031" y="1734145"/>
            <a:ext cx="1628775" cy="329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Break when stepping away, End Break on return; windows count into worked hours.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29400" y="1555217"/>
            <a:ext cx="142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6847284" y="1100138"/>
            <a:ext cx="1835944" cy="1124583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950869" y="1218009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979087" y="124622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8393906" y="1246584"/>
            <a:ext cx="185738" cy="185738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393906" y="124658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50869" y="1525191"/>
            <a:ext cx="16287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 Out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50869" y="1734145"/>
            <a:ext cx="1628775" cy="329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 shift end; in/out, breaks and total hours complete the day.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0772" y="2346164"/>
            <a:ext cx="4050506" cy="1002357"/>
          </a:xfrm>
          <a:prstGeom prst="roundRect">
            <a:avLst>
              <a:gd name="adj" fmla="val 1330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7219" y="2464036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5437" y="24922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921544" y="2502433"/>
            <a:ext cx="3443288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Forgot to punch?</a:t>
            </a:r>
            <a:endParaRPr lang="en-US" sz="872" dirty="0"/>
          </a:p>
        </p:txBody>
      </p:sp>
      <p:sp>
        <p:nvSpPr>
          <p:cNvPr id="39" name="Text 37"/>
          <p:cNvSpPr/>
          <p:nvPr/>
        </p:nvSpPr>
        <p:spPr>
          <a:xfrm>
            <a:off x="607219" y="2778361"/>
            <a:ext cx="3757613" cy="5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 not double-punch — raise a regularisation request from the Attendance module with the correct in/out times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 and HR approve; attendance is corrected at the source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32722" y="2346164"/>
            <a:ext cx="4050506" cy="1002357"/>
          </a:xfrm>
          <a:prstGeom prst="roundRect">
            <a:avLst>
              <a:gd name="adj" fmla="val 1330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79169" y="2464036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07387" y="24922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3" name="Text 41"/>
          <p:cNvSpPr/>
          <p:nvPr/>
        </p:nvSpPr>
        <p:spPr>
          <a:xfrm>
            <a:off x="5093494" y="2502433"/>
            <a:ext cx="3443288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 GPS fails</a:t>
            </a:r>
            <a:endParaRPr lang="en-US" sz="872" dirty="0"/>
          </a:p>
        </p:txBody>
      </p:sp>
      <p:sp>
        <p:nvSpPr>
          <p:cNvPr id="44" name="Text 42"/>
          <p:cNvSpPr/>
          <p:nvPr/>
        </p:nvSpPr>
        <p:spPr>
          <a:xfrm>
            <a:off x="4779169" y="2778361"/>
            <a:ext cx="3757613" cy="396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enable Location permission for the app, remove any mock/fake-GPS app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retry near a window or open space; the app blocks spoofed locations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3452106"/>
            <a:ext cx="8229600" cy="574849"/>
          </a:xfrm>
          <a:prstGeom prst="roundRect">
            <a:avLst>
              <a:gd name="adj" fmla="val 23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57200" y="3455677"/>
            <a:ext cx="8229600" cy="0"/>
          </a:xfrm>
          <a:prstGeom prst="line">
            <a:avLst/>
          </a:prstGeom>
          <a:noFill/>
          <a:ln w="7144">
            <a:solidFill>
              <a:srgbClr val="D7E6DC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83228" y="3452106"/>
            <a:ext cx="0" cy="574849"/>
          </a:xfrm>
          <a:prstGeom prst="line">
            <a:avLst/>
          </a:prstGeom>
          <a:noFill/>
          <a:ln w="7144">
            <a:solidFill>
              <a:srgbClr val="D7E6DC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57200" y="4023382"/>
            <a:ext cx="8229600" cy="0"/>
          </a:xfrm>
          <a:prstGeom prst="line">
            <a:avLst/>
          </a:prstGeom>
          <a:noFill/>
          <a:ln w="7144">
            <a:solidFill>
              <a:srgbClr val="D7E6DC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71488" y="3452106"/>
            <a:ext cx="0" cy="574849"/>
          </a:xfrm>
          <a:prstGeom prst="line">
            <a:avLst/>
          </a:prstGeom>
          <a:noFill/>
          <a:ln w="28575">
            <a:solidFill>
              <a:srgbClr val="1F7A4D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28650" y="3566406"/>
            <a:ext cx="271463" cy="271463"/>
          </a:xfrm>
          <a:prstGeom prst="roundRect">
            <a:avLst>
              <a:gd name="adj" fmla="val 31579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55618" y="3593373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77" dirty="0"/>
          </a:p>
        </p:txBody>
      </p:sp>
      <p:sp>
        <p:nvSpPr>
          <p:cNvPr id="52" name="Text 50"/>
          <p:cNvSpPr/>
          <p:nvPr/>
        </p:nvSpPr>
        <p:spPr>
          <a:xfrm>
            <a:off x="1000125" y="3566406"/>
            <a:ext cx="7536656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HR / Admin</a:t>
            </a:r>
            <a:endParaRPr lang="en-US" sz="872" dirty="0"/>
          </a:p>
        </p:txBody>
      </p:sp>
      <p:sp>
        <p:nvSpPr>
          <p:cNvPr id="53" name="Text 51"/>
          <p:cNvSpPr/>
          <p:nvPr/>
        </p:nvSpPr>
        <p:spPr>
          <a:xfrm>
            <a:off x="1000125" y="3775360"/>
            <a:ext cx="7325804" cy="137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1"/>
              </a:lnSpc>
              <a:buNone/>
            </a:pPr>
            <a:r>
              <a:rPr lang="en-US" sz="698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Attendance</a:t>
            </a:r>
            <a:pPr algn="l" indent="0" marL="0">
              <a:lnSpc>
                <a:spcPts val="1081"/>
              </a:lnSpc>
              <a:buNone/>
            </a:pPr>
            <a:r>
              <a:rPr lang="en-US" sz="698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shows who is present / on leave / missing punches, with daily status entry; the </a:t>
            </a:r>
            <a:pPr algn="l" indent="0" marL="0">
              <a:lnSpc>
                <a:spcPts val="1081"/>
              </a:lnSpc>
              <a:buNone/>
            </a:pPr>
            <a:r>
              <a:rPr lang="en-US" sz="698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Reports</a:t>
            </a:r>
            <a:pPr algn="l" indent="0" marL="0">
              <a:lnSpc>
                <a:spcPts val="1081"/>
              </a:lnSpc>
              <a:buNone/>
            </a:pPr>
            <a:r>
              <a:rPr lang="en-US" sz="698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module adds attendance and leave reports — review it first thing every morning.</a:t>
            </a:r>
            <a:endParaRPr lang="en-US" sz="69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7329488" y="371475"/>
            <a:ext cx="1357313" cy="428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9488" y="371475"/>
            <a:ext cx="1357313" cy="4286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008144" y="-707231"/>
            <a:ext cx="1843088" cy="1843088"/>
          </a:xfrm>
          <a:prstGeom prst="ellipse">
            <a:avLst/>
          </a:prstGeom>
          <a:noFill/>
          <a:ln w="300038">
            <a:solidFill>
              <a:srgbClr val="4A9A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411659"/>
            <a:ext cx="1266847" cy="1609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3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LEAVE SOP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600075"/>
            <a:ext cx="8636000" cy="29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913" b="1" spc="-5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Apply ahead, track live, approve on the go</a:t>
            </a:r>
            <a:endParaRPr lang="en-US" sz="1913" dirty="0"/>
          </a:p>
        </p:txBody>
      </p:sp>
      <p:sp>
        <p:nvSpPr>
          <p:cNvPr id="7" name="Text 4"/>
          <p:cNvSpPr/>
          <p:nvPr/>
        </p:nvSpPr>
        <p:spPr>
          <a:xfrm>
            <a:off x="460772" y="1023342"/>
            <a:ext cx="4674803" cy="775543"/>
          </a:xfrm>
          <a:prstGeom prst="roundRect">
            <a:avLst>
              <a:gd name="adj" fmla="val 1719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2931" y="1303958"/>
            <a:ext cx="214313" cy="214313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92931" y="1303958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07256" y="1250603"/>
            <a:ext cx="4096159" cy="352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844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Leave Management</a:t>
            </a:r>
            <a:endParaRPr lang="en-US" sz="800" dirty="0"/>
          </a:p>
          <a:p>
            <a:pPr algn="l" indent="0" marL="0">
              <a:lnSpc>
                <a:spcPts val="128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(or tap </a:t>
            </a:r>
            <a:pPr algn="l" indent="0" marL="0">
              <a:lnSpc>
                <a:spcPts val="128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Leave</a:t>
            </a:r>
            <a:pPr algn="l" indent="0" marL="0">
              <a:lnSpc>
                <a:spcPts val="128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 Home) → </a:t>
            </a:r>
            <a:pPr algn="l" indent="0" marL="0">
              <a:lnSpc>
                <a:spcPts val="128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Apply Leave</a:t>
            </a:r>
            <a:pPr algn="l" indent="0" marL="0">
              <a:lnSpc>
                <a:spcPts val="128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0772" y="1891754"/>
            <a:ext cx="4674803" cy="775543"/>
          </a:xfrm>
          <a:prstGeom prst="roundRect">
            <a:avLst>
              <a:gd name="adj" fmla="val 1719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92931" y="2172370"/>
            <a:ext cx="214313" cy="214313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92931" y="2172370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07256" y="2119015"/>
            <a:ext cx="4096159" cy="352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844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Choose the leave type</a:t>
            </a:r>
            <a:endParaRPr lang="en-US" sz="800" dirty="0"/>
          </a:p>
          <a:p>
            <a:pPr algn="l" indent="0" marL="0">
              <a:lnSpc>
                <a:spcPts val="128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</a:t>
            </a:r>
            <a:pPr algn="l" indent="0" marL="0">
              <a:lnSpc>
                <a:spcPts val="128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casual, sick, earned</a:t>
            </a:r>
            <a:pPr algn="l" indent="0" marL="0">
              <a:lnSpc>
                <a:spcPts val="128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plus company-specific types.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0772" y="2760166"/>
            <a:ext cx="4674803" cy="775543"/>
          </a:xfrm>
          <a:prstGeom prst="roundRect">
            <a:avLst>
              <a:gd name="adj" fmla="val 1719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92931" y="3040782"/>
            <a:ext cx="214313" cy="214313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92931" y="3040782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07256" y="2987427"/>
            <a:ext cx="4096159" cy="352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844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Pick dates and add a short reason</a:t>
            </a:r>
            <a:endParaRPr lang="en-US" sz="800" dirty="0"/>
          </a:p>
          <a:p>
            <a:pPr algn="l" indent="0" marL="0">
              <a:lnSpc>
                <a:spcPts val="128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apply </a:t>
            </a:r>
            <a:pPr algn="l" indent="0" marL="0">
              <a:lnSpc>
                <a:spcPts val="128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</a:t>
            </a:r>
            <a:pPr algn="l" indent="0" marL="0">
              <a:lnSpc>
                <a:spcPts val="128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leave date whenever possible.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60772" y="3628579"/>
            <a:ext cx="4674803" cy="775543"/>
          </a:xfrm>
          <a:prstGeom prst="roundRect">
            <a:avLst>
              <a:gd name="adj" fmla="val 1719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92931" y="3909194"/>
            <a:ext cx="214313" cy="214313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92931" y="3909194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907256" y="3855839"/>
            <a:ext cx="4096159" cy="352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844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Submit</a:t>
            </a:r>
            <a:endParaRPr lang="en-US" sz="800" dirty="0"/>
          </a:p>
          <a:p>
            <a:pPr algn="l" indent="0" marL="0">
              <a:lnSpc>
                <a:spcPts val="128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track </a:t>
            </a:r>
            <a:pPr algn="l" indent="0" marL="0">
              <a:lnSpc>
                <a:spcPts val="128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 chips</a:t>
            </a:r>
            <a:pPr algn="l" indent="0" marL="0">
              <a:lnSpc>
                <a:spcPts val="128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 your list; you are notified the moment a decision lands.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299881" y="1023342"/>
            <a:ext cx="3383347" cy="1082948"/>
          </a:xfrm>
          <a:prstGeom prst="roundRect">
            <a:avLst>
              <a:gd name="adj" fmla="val 1231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432041" y="1134070"/>
            <a:ext cx="242888" cy="242888"/>
          </a:xfrm>
          <a:prstGeom prst="roundRect">
            <a:avLst>
              <a:gd name="adj" fmla="val 39216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55079" y="1157109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336" dirty="0"/>
          </a:p>
        </p:txBody>
      </p:sp>
      <p:sp>
        <p:nvSpPr>
          <p:cNvPr id="26" name="Text 23"/>
          <p:cNvSpPr/>
          <p:nvPr/>
        </p:nvSpPr>
        <p:spPr>
          <a:xfrm>
            <a:off x="5753509" y="1169789"/>
            <a:ext cx="279755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balances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432041" y="1441252"/>
            <a:ext cx="3119028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Remaining balance per leave type with this year's usage —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 before applying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432041" y="1800573"/>
            <a:ext cx="509774" cy="206026"/>
          </a:xfrm>
          <a:prstGeom prst="roundRect">
            <a:avLst>
              <a:gd name="adj" fmla="val 4618580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432041" y="1811610"/>
            <a:ext cx="509774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34" kern="0" dirty="0">
                <a:solidFill>
                  <a:srgbClr val="1E4A3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CASUAL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984677" y="1800573"/>
            <a:ext cx="367903" cy="206026"/>
          </a:xfrm>
          <a:prstGeom prst="roundRect">
            <a:avLst>
              <a:gd name="adj" fmla="val 4618580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984677" y="1811610"/>
            <a:ext cx="367903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34" kern="0" dirty="0">
                <a:solidFill>
                  <a:srgbClr val="1E4A3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SICK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395442" y="1800573"/>
            <a:ext cx="514015" cy="206026"/>
          </a:xfrm>
          <a:prstGeom prst="roundRect">
            <a:avLst>
              <a:gd name="adj" fmla="val 4618580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395442" y="1811610"/>
            <a:ext cx="51401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34" kern="0" dirty="0">
                <a:solidFill>
                  <a:srgbClr val="1E4A3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EARNED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952320" y="1800573"/>
            <a:ext cx="1350392" cy="206026"/>
          </a:xfrm>
          <a:prstGeom prst="roundRect">
            <a:avLst>
              <a:gd name="adj" fmla="val 4618580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952320" y="1811610"/>
            <a:ext cx="1350392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34" kern="0" dirty="0">
                <a:solidFill>
                  <a:srgbClr val="1E4A3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 COMPANY-SPECIFIC TYPES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299881" y="2199159"/>
            <a:ext cx="3383347" cy="1572741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432041" y="2309887"/>
            <a:ext cx="242888" cy="242888"/>
          </a:xfrm>
          <a:prstGeom prst="roundRect">
            <a:avLst>
              <a:gd name="adj" fmla="val 39216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455079" y="2332926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336" dirty="0"/>
          </a:p>
        </p:txBody>
      </p:sp>
      <p:sp>
        <p:nvSpPr>
          <p:cNvPr id="39" name="Text 36"/>
          <p:cNvSpPr/>
          <p:nvPr/>
        </p:nvSpPr>
        <p:spPr>
          <a:xfrm>
            <a:off x="5753509" y="2350963"/>
            <a:ext cx="279755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approvers </a:t>
            </a:r>
            <a:pPr algn="l" indent="0" marL="0">
              <a:lnSpc>
                <a:spcPts val="1266"/>
              </a:lnSpc>
              <a:buNone/>
            </a:pPr>
            <a:r>
              <a:rPr lang="en-US" sz="800" b="1" spc="-11" kern="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(HR/Admin/CEO/managers)</a:t>
            </a:r>
            <a:endParaRPr lang="en-US" sz="844" dirty="0"/>
          </a:p>
        </p:txBody>
      </p:sp>
      <p:sp>
        <p:nvSpPr>
          <p:cNvPr id="40" name="Text 37"/>
          <p:cNvSpPr/>
          <p:nvPr/>
        </p:nvSpPr>
        <p:spPr>
          <a:xfrm>
            <a:off x="5432041" y="2617068"/>
            <a:ext cx="3119028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Approve / Reject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actions sit right on each pending card, and leave can be applied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 behalf of an employee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from the same screen; every action is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audit-logged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432041" y="3481328"/>
            <a:ext cx="578309" cy="190024"/>
          </a:xfrm>
          <a:prstGeom prst="roundRect">
            <a:avLst>
              <a:gd name="adj" fmla="val 10025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432041" y="3491508"/>
            <a:ext cx="57830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APPROVE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074643" y="3481328"/>
            <a:ext cx="501737" cy="190024"/>
          </a:xfrm>
          <a:prstGeom prst="roundRect">
            <a:avLst>
              <a:gd name="adj" fmla="val 100250"/>
            </a:avLst>
          </a:prstGeom>
          <a:solidFill>
            <a:srgbClr val="F6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6074643" y="3491508"/>
            <a:ext cx="50173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A0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REJECT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299881" y="3864769"/>
            <a:ext cx="3383347" cy="539353"/>
          </a:xfrm>
          <a:prstGeom prst="roundRect">
            <a:avLst>
              <a:gd name="adj" fmla="val 2472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432041" y="3961209"/>
            <a:ext cx="3119028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90" kern="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 CHIPS IN YOUR LIST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432041" y="4127837"/>
            <a:ext cx="553306" cy="190024"/>
          </a:xfrm>
          <a:prstGeom prst="roundRect">
            <a:avLst>
              <a:gd name="adj" fmla="val 100250"/>
            </a:avLst>
          </a:prstGeom>
          <a:solidFill>
            <a:srgbClr val="FDF3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5430756" y="4138017"/>
            <a:ext cx="55587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8A5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PENDING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056784" y="4127837"/>
            <a:ext cx="638249" cy="190024"/>
          </a:xfrm>
          <a:prstGeom prst="roundRect">
            <a:avLst>
              <a:gd name="adj" fmla="val 10025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6056784" y="4138017"/>
            <a:ext cx="63824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APPROVED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766471" y="4127837"/>
            <a:ext cx="617376" cy="190024"/>
          </a:xfrm>
          <a:prstGeom prst="roundRect">
            <a:avLst>
              <a:gd name="adj" fmla="val 100250"/>
            </a:avLst>
          </a:prstGeom>
          <a:solidFill>
            <a:srgbClr val="F6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6760057" y="4138017"/>
            <a:ext cx="63020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A0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REJECTED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60772" y="4511278"/>
            <a:ext cx="8222456" cy="314325"/>
          </a:xfrm>
          <a:prstGeom prst="roundRect">
            <a:avLst>
              <a:gd name="adj" fmla="val 36364"/>
            </a:avLst>
          </a:prstGeom>
          <a:solidFill>
            <a:srgbClr val="E2F2E8"/>
          </a:solidFill>
          <a:ln w="7144">
            <a:solidFill>
              <a:srgbClr val="CFE4D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592931" y="459700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55" name="Text 52"/>
          <p:cNvSpPr/>
          <p:nvPr/>
        </p:nvSpPr>
        <p:spPr>
          <a:xfrm>
            <a:off x="828675" y="459700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406" dirty="0"/>
          </a:p>
        </p:txBody>
      </p:sp>
      <p:sp>
        <p:nvSpPr>
          <p:cNvPr id="56" name="Text 53"/>
          <p:cNvSpPr/>
          <p:nvPr/>
        </p:nvSpPr>
        <p:spPr>
          <a:xfrm>
            <a:off x="1064419" y="4593431"/>
            <a:ext cx="74866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decision triggers an in-app notification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 email.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7329488" y="371475"/>
            <a:ext cx="1357313" cy="428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9488" y="371475"/>
            <a:ext cx="1357313" cy="4286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943850" y="3943350"/>
            <a:ext cx="1971675" cy="1971675"/>
          </a:xfrm>
          <a:prstGeom prst="ellipse">
            <a:avLst/>
          </a:prstGeom>
          <a:noFill/>
          <a:ln w="314325">
            <a:solidFill>
              <a:srgbClr val="4A9A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204222" y="1830586"/>
            <a:ext cx="3332559" cy="0"/>
          </a:xfrm>
          <a:prstGeom prst="line">
            <a:avLst/>
          </a:prstGeom>
          <a:noFill/>
          <a:ln w="7144">
            <a:solidFill>
              <a:srgbClr val="E6EFE9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204222" y="2209205"/>
            <a:ext cx="3332559" cy="0"/>
          </a:xfrm>
          <a:prstGeom prst="line">
            <a:avLst/>
          </a:prstGeom>
          <a:noFill/>
          <a:ln w="7144">
            <a:solidFill>
              <a:srgbClr val="E6EFE9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204222" y="3681375"/>
            <a:ext cx="3332559" cy="0"/>
          </a:xfrm>
          <a:prstGeom prst="line">
            <a:avLst/>
          </a:prstGeom>
          <a:noFill/>
          <a:ln w="7144">
            <a:solidFill>
              <a:srgbClr val="E6EF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204222" y="4203427"/>
            <a:ext cx="3332559" cy="0"/>
          </a:xfrm>
          <a:prstGeom prst="line">
            <a:avLst/>
          </a:prstGeom>
          <a:noFill/>
          <a:ln w="7144">
            <a:solidFill>
              <a:srgbClr val="E6EFE9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57200" y="411659"/>
            <a:ext cx="1087678" cy="1609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3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PAYROLL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600075"/>
            <a:ext cx="8636000" cy="29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913" b="1" spc="-5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Payslips on the go — no more asking HR</a:t>
            </a:r>
            <a:endParaRPr lang="en-US" sz="1913" dirty="0"/>
          </a:p>
        </p:txBody>
      </p:sp>
      <p:sp>
        <p:nvSpPr>
          <p:cNvPr id="11" name="Text 8"/>
          <p:cNvSpPr/>
          <p:nvPr/>
        </p:nvSpPr>
        <p:spPr>
          <a:xfrm>
            <a:off x="457200" y="1019770"/>
            <a:ext cx="57654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1" kern="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TO VIEW A PAYSLIP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0772" y="1221581"/>
            <a:ext cx="4432697" cy="1129940"/>
          </a:xfrm>
          <a:prstGeom prst="roundRect">
            <a:avLst>
              <a:gd name="adj" fmla="val 11802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401207" y="1239441"/>
            <a:ext cx="4945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3600" b="1" spc="-112" kern="0" dirty="0">
                <a:solidFill>
                  <a:srgbClr val="123527">
                    <a:alpha val="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07219" y="1657908"/>
            <a:ext cx="257175" cy="257175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07219" y="1657908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78694" y="1617725"/>
            <a:ext cx="3514055" cy="364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Payroll</a:t>
            </a:r>
            <a:endParaRPr lang="en-US" sz="816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816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the </a:t>
            </a:r>
            <a:pPr algn="l" indent="0" marL="0">
              <a:lnSpc>
                <a:spcPts val="1395"/>
              </a:lnSpc>
              <a:buNone/>
            </a:pPr>
            <a:r>
              <a:rPr lang="en-US" sz="816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Payslips list</a:t>
            </a:r>
            <a:pPr algn="l" indent="0" marL="0">
              <a:lnSpc>
                <a:spcPts val="1395"/>
              </a:lnSpc>
              <a:buNone/>
            </a:pPr>
            <a:r>
              <a:rPr lang="en-US" sz="816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shows each processed month with its </a:t>
            </a:r>
            <a:pPr algn="l" indent="0" marL="0">
              <a:lnSpc>
                <a:spcPts val="1395"/>
              </a:lnSpc>
              <a:buNone/>
            </a:pPr>
            <a:r>
              <a:rPr lang="en-US" sz="816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 salary</a:t>
            </a:r>
            <a:pPr algn="l" indent="0" marL="0">
              <a:lnSpc>
                <a:spcPts val="1395"/>
              </a:lnSpc>
              <a:buNone/>
            </a:pPr>
            <a:r>
              <a:rPr lang="en-US" sz="816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460772" y="2444390"/>
            <a:ext cx="4432697" cy="1129940"/>
          </a:xfrm>
          <a:prstGeom prst="roundRect">
            <a:avLst>
              <a:gd name="adj" fmla="val 11802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401207" y="2462250"/>
            <a:ext cx="4945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3600" b="1" spc="-112" kern="0" dirty="0">
                <a:solidFill>
                  <a:srgbClr val="123527">
                    <a:alpha val="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607219" y="2880717"/>
            <a:ext cx="257175" cy="257175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07219" y="2880717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78694" y="2760278"/>
            <a:ext cx="3768328" cy="53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Filter</a:t>
            </a:r>
            <a:endParaRPr lang="en-US" sz="816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816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by </a:t>
            </a:r>
            <a:pPr algn="l" indent="0" marL="0">
              <a:lnSpc>
                <a:spcPts val="1395"/>
              </a:lnSpc>
              <a:buNone/>
            </a:pPr>
            <a:r>
              <a:rPr lang="en-US" sz="816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</a:t>
            </a:r>
            <a:pPr algn="l" indent="0" marL="0">
              <a:lnSpc>
                <a:spcPts val="1395"/>
              </a:lnSpc>
              <a:buNone/>
            </a:pPr>
            <a:r>
              <a:rPr lang="en-US" sz="816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395"/>
              </a:lnSpc>
              <a:buNone/>
            </a:pPr>
            <a:r>
              <a:rPr lang="en-US" sz="816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</a:t>
            </a:r>
            <a:pPr algn="l" indent="0" marL="0">
              <a:lnSpc>
                <a:spcPts val="1395"/>
              </a:lnSpc>
              <a:buNone/>
            </a:pPr>
            <a:r>
              <a:rPr lang="en-US" sz="816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(HR/Admin and payroll managers) or </a:t>
            </a:r>
            <a:pPr algn="l" indent="0" marL="0">
              <a:lnSpc>
                <a:spcPts val="1395"/>
              </a:lnSpc>
              <a:buNone/>
            </a:pPr>
            <a:r>
              <a:rPr lang="en-US" sz="816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</a:t>
            </a:r>
            <a:pPr algn="l" indent="0" marL="0">
              <a:lnSpc>
                <a:spcPts val="1395"/>
              </a:lnSpc>
              <a:buNone/>
            </a:pPr>
            <a:r>
              <a:rPr lang="en-US" sz="816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from the filter bar.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460772" y="3667199"/>
            <a:ext cx="4432697" cy="1129940"/>
          </a:xfrm>
          <a:prstGeom prst="roundRect">
            <a:avLst>
              <a:gd name="adj" fmla="val 11802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401207" y="3685059"/>
            <a:ext cx="4945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3600" b="1" spc="-112" kern="0" dirty="0">
                <a:solidFill>
                  <a:srgbClr val="123527">
                    <a:alpha val="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607219" y="4103526"/>
            <a:ext cx="257175" cy="257175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07219" y="4103526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78694" y="3983087"/>
            <a:ext cx="3768328" cy="53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Tap a payslip for the detail sheet</a:t>
            </a:r>
            <a:endParaRPr lang="en-US" sz="816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816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</a:t>
            </a:r>
            <a:pPr algn="l" indent="0" marL="0">
              <a:lnSpc>
                <a:spcPts val="1395"/>
              </a:lnSpc>
              <a:buNone/>
            </a:pPr>
            <a:r>
              <a:rPr lang="en-US" sz="816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earnings, deductions and net pay</a:t>
            </a:r>
            <a:pPr algn="l" indent="0" marL="0">
              <a:lnSpc>
                <a:spcPts val="1395"/>
              </a:lnSpc>
              <a:buNone/>
            </a:pPr>
            <a:r>
              <a:rPr lang="en-US" sz="816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that month; raise a </a:t>
            </a:r>
            <a:pPr algn="l" indent="0" marL="0">
              <a:lnSpc>
                <a:spcPts val="1395"/>
              </a:lnSpc>
              <a:buNone/>
            </a:pPr>
            <a:r>
              <a:rPr lang="en-US" sz="816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ticket</a:t>
            </a:r>
            <a:pPr algn="l" indent="0" marL="0">
              <a:lnSpc>
                <a:spcPts val="1395"/>
              </a:lnSpc>
              <a:buNone/>
            </a:pPr>
            <a:r>
              <a:rPr lang="en-US" sz="816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immediately if figures look wrong.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5057775" y="1023342"/>
            <a:ext cx="3625453" cy="1614488"/>
          </a:xfrm>
          <a:prstGeom prst="roundRect">
            <a:avLst>
              <a:gd name="adj" fmla="val 8260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204222" y="1141214"/>
            <a:ext cx="242888" cy="242888"/>
          </a:xfrm>
          <a:prstGeom prst="roundRect">
            <a:avLst>
              <a:gd name="adj" fmla="val 39216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227260" y="1164253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336" dirty="0"/>
          </a:p>
        </p:txBody>
      </p:sp>
      <p:sp>
        <p:nvSpPr>
          <p:cNvPr id="30" name="Text 27"/>
          <p:cNvSpPr/>
          <p:nvPr/>
        </p:nvSpPr>
        <p:spPr>
          <a:xfrm>
            <a:off x="5525691" y="1176933"/>
            <a:ext cx="301109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you see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204222" y="1534120"/>
            <a:ext cx="214313" cy="214313"/>
          </a:xfrm>
          <a:prstGeom prst="roundRect">
            <a:avLst>
              <a:gd name="adj" fmla="val 4000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23331" y="1553230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95" dirty="0"/>
          </a:p>
        </p:txBody>
      </p:sp>
      <p:sp>
        <p:nvSpPr>
          <p:cNvPr id="33" name="Text 30"/>
          <p:cNvSpPr/>
          <p:nvPr/>
        </p:nvSpPr>
        <p:spPr>
          <a:xfrm>
            <a:off x="5504259" y="1573746"/>
            <a:ext cx="3032522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Month-wise payslip history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204222" y="1912739"/>
            <a:ext cx="214313" cy="214313"/>
          </a:xfrm>
          <a:prstGeom prst="roundRect">
            <a:avLst>
              <a:gd name="adj" fmla="val 4000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23331" y="1931849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95" dirty="0"/>
          </a:p>
        </p:txBody>
      </p:sp>
      <p:sp>
        <p:nvSpPr>
          <p:cNvPr id="36" name="Text 33"/>
          <p:cNvSpPr/>
          <p:nvPr/>
        </p:nvSpPr>
        <p:spPr>
          <a:xfrm>
            <a:off x="5504259" y="1952365"/>
            <a:ext cx="3032522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Gross / deductions / net breakdown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204222" y="2291358"/>
            <a:ext cx="214313" cy="214313"/>
          </a:xfrm>
          <a:prstGeom prst="roundRect">
            <a:avLst>
              <a:gd name="adj" fmla="val 4000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223331" y="2310467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39" name="Text 36"/>
          <p:cNvSpPr/>
          <p:nvPr/>
        </p:nvSpPr>
        <p:spPr>
          <a:xfrm>
            <a:off x="5504259" y="2330983"/>
            <a:ext cx="3032522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official company payslip format as on web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057775" y="2744986"/>
            <a:ext cx="3625453" cy="2052042"/>
          </a:xfrm>
          <a:prstGeom prst="roundRect">
            <a:avLst>
              <a:gd name="adj" fmla="val 6498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204222" y="2862858"/>
            <a:ext cx="242888" cy="242888"/>
          </a:xfrm>
          <a:prstGeom prst="roundRect">
            <a:avLst>
              <a:gd name="adj" fmla="val 39216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227260" y="2885896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336" dirty="0"/>
          </a:p>
        </p:txBody>
      </p:sp>
      <p:sp>
        <p:nvSpPr>
          <p:cNvPr id="43" name="Text 40"/>
          <p:cNvSpPr/>
          <p:nvPr/>
        </p:nvSpPr>
        <p:spPr>
          <a:xfrm>
            <a:off x="5525691" y="2898577"/>
            <a:ext cx="301109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Good to know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204222" y="3313137"/>
            <a:ext cx="214313" cy="214313"/>
          </a:xfrm>
          <a:prstGeom prst="roundRect">
            <a:avLst>
              <a:gd name="adj" fmla="val 4000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5223331" y="3332247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46" name="Text 43"/>
          <p:cNvSpPr/>
          <p:nvPr/>
        </p:nvSpPr>
        <p:spPr>
          <a:xfrm>
            <a:off x="5504259" y="3270833"/>
            <a:ext cx="3032522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Payslips appear once the payroll run is processed and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RELEASED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by the payroll manager.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204222" y="3835189"/>
            <a:ext cx="214313" cy="214313"/>
          </a:xfrm>
          <a:prstGeom prst="roundRect">
            <a:avLst>
              <a:gd name="adj" fmla="val 4000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5223331" y="3854299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195" dirty="0"/>
          </a:p>
        </p:txBody>
      </p:sp>
      <p:sp>
        <p:nvSpPr>
          <p:cNvPr id="49" name="Text 46"/>
          <p:cNvSpPr/>
          <p:nvPr/>
        </p:nvSpPr>
        <p:spPr>
          <a:xfrm>
            <a:off x="5504259" y="3867671"/>
            <a:ext cx="3032522" cy="17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 follows the </a:t>
            </a:r>
            <a:pPr algn="l" indent="0" marL="0">
              <a:lnSpc>
                <a:spcPts val="1177"/>
              </a:lnSpc>
              <a:buNone/>
            </a:pPr>
            <a:r>
              <a:rPr lang="en-US" sz="759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 release rules and permissions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as web.</a:t>
            </a:r>
            <a:endParaRPr lang="en-US" sz="759" dirty="0"/>
          </a:p>
        </p:txBody>
      </p:sp>
      <p:sp>
        <p:nvSpPr>
          <p:cNvPr id="50" name="Text 47"/>
          <p:cNvSpPr/>
          <p:nvPr/>
        </p:nvSpPr>
        <p:spPr>
          <a:xfrm>
            <a:off x="5204222" y="4357241"/>
            <a:ext cx="214313" cy="214313"/>
          </a:xfrm>
          <a:prstGeom prst="roundRect">
            <a:avLst>
              <a:gd name="adj" fmla="val 4000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223331" y="4376351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195" dirty="0"/>
          </a:p>
        </p:txBody>
      </p:sp>
      <p:sp>
        <p:nvSpPr>
          <p:cNvPr id="52" name="Text 49"/>
          <p:cNvSpPr/>
          <p:nvPr/>
        </p:nvSpPr>
        <p:spPr>
          <a:xfrm>
            <a:off x="5504259" y="4389723"/>
            <a:ext cx="3032522" cy="17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Missing payslip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check the month's payroll run was released.</a:t>
            </a:r>
            <a:endParaRPr lang="en-US" sz="75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7329488" y="371475"/>
            <a:ext cx="1357313" cy="428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9488" y="371475"/>
            <a:ext cx="1357313" cy="4286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-771525" y="3943350"/>
            <a:ext cx="1971675" cy="1971675"/>
          </a:xfrm>
          <a:prstGeom prst="ellipse">
            <a:avLst/>
          </a:prstGeom>
          <a:noFill/>
          <a:ln w="314325">
            <a:solidFill>
              <a:srgbClr val="4A9A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57200" y="3362027"/>
            <a:ext cx="8229600" cy="0"/>
          </a:xfrm>
          <a:prstGeom prst="line">
            <a:avLst/>
          </a:prstGeom>
          <a:noFill/>
          <a:ln w="7144">
            <a:solidFill>
              <a:srgbClr val="D7E6DC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683228" y="3358455"/>
            <a:ext cx="0" cy="785813"/>
          </a:xfrm>
          <a:prstGeom prst="line">
            <a:avLst/>
          </a:prstGeom>
          <a:noFill/>
          <a:ln w="7144">
            <a:solidFill>
              <a:srgbClr val="D7E6DC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457200" y="4140696"/>
            <a:ext cx="8229600" cy="0"/>
          </a:xfrm>
          <a:prstGeom prst="line">
            <a:avLst/>
          </a:prstGeom>
          <a:noFill/>
          <a:ln w="7144">
            <a:solidFill>
              <a:srgbClr val="D7E6D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71488" y="3358455"/>
            <a:ext cx="0" cy="785813"/>
          </a:xfrm>
          <a:prstGeom prst="line">
            <a:avLst/>
          </a:prstGeom>
          <a:noFill/>
          <a:ln w="28575">
            <a:solidFill>
              <a:srgbClr val="1F7A4D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57200" y="411659"/>
            <a:ext cx="2189677" cy="1609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3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&amp; COLLABORATION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600075"/>
            <a:ext cx="8636000" cy="29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913" b="1" spc="-5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Projects, tasks and chat — the office in your pocket</a:t>
            </a:r>
            <a:endParaRPr lang="en-US" sz="1913" dirty="0"/>
          </a:p>
        </p:txBody>
      </p:sp>
      <p:sp>
        <p:nvSpPr>
          <p:cNvPr id="11" name="Text 8"/>
          <p:cNvSpPr/>
          <p:nvPr/>
        </p:nvSpPr>
        <p:spPr>
          <a:xfrm>
            <a:off x="460772" y="1023342"/>
            <a:ext cx="2659819" cy="2217241"/>
          </a:xfrm>
          <a:prstGeom prst="roundRect">
            <a:avLst>
              <a:gd name="adj" fmla="val 601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528610" y="1098352"/>
            <a:ext cx="569934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-56" kern="0" dirty="0">
                <a:solidFill>
                  <a:srgbClr val="123527">
                    <a:alpha val="7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475" dirty="0"/>
          </a:p>
        </p:txBody>
      </p:sp>
      <p:sp>
        <p:nvSpPr>
          <p:cNvPr id="13" name="Text 10"/>
          <p:cNvSpPr/>
          <p:nvPr/>
        </p:nvSpPr>
        <p:spPr>
          <a:xfrm>
            <a:off x="621506" y="1502308"/>
            <a:ext cx="357188" cy="357188"/>
          </a:xfrm>
          <a:prstGeom prst="roundRect">
            <a:avLst>
              <a:gd name="adj" fmla="val 34667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0261" y="1541063"/>
            <a:ext cx="27967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98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898" dirty="0"/>
          </a:p>
        </p:txBody>
      </p:sp>
      <p:sp>
        <p:nvSpPr>
          <p:cNvPr id="15" name="Text 12"/>
          <p:cNvSpPr/>
          <p:nvPr/>
        </p:nvSpPr>
        <p:spPr>
          <a:xfrm>
            <a:off x="621506" y="1952365"/>
            <a:ext cx="233835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-17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Projects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621506" y="226311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792956" y="2248830"/>
            <a:ext cx="2166900" cy="17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 your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allocated projects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21506" y="24768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792956" y="2462585"/>
            <a:ext cx="2166900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Tap one for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detail view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tasks, members and progress.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242035" y="1023342"/>
            <a:ext cx="2659819" cy="2217241"/>
          </a:xfrm>
          <a:prstGeom prst="roundRect">
            <a:avLst>
              <a:gd name="adj" fmla="val 601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309873" y="1098352"/>
            <a:ext cx="569934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-56" kern="0" dirty="0">
                <a:solidFill>
                  <a:srgbClr val="123527">
                    <a:alpha val="7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475" dirty="0"/>
          </a:p>
        </p:txBody>
      </p:sp>
      <p:sp>
        <p:nvSpPr>
          <p:cNvPr id="22" name="Text 19"/>
          <p:cNvSpPr/>
          <p:nvPr/>
        </p:nvSpPr>
        <p:spPr>
          <a:xfrm>
            <a:off x="3402769" y="1502308"/>
            <a:ext cx="357188" cy="357188"/>
          </a:xfrm>
          <a:prstGeom prst="roundRect">
            <a:avLst>
              <a:gd name="adj" fmla="val 34667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441524" y="1541063"/>
            <a:ext cx="27967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98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898" dirty="0"/>
          </a:p>
        </p:txBody>
      </p:sp>
      <p:sp>
        <p:nvSpPr>
          <p:cNvPr id="24" name="Text 21"/>
          <p:cNvSpPr/>
          <p:nvPr/>
        </p:nvSpPr>
        <p:spPr>
          <a:xfrm>
            <a:off x="3402769" y="1952365"/>
            <a:ext cx="233835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-17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Tasks</a:t>
            </a:r>
            <a:endParaRPr lang="en-US" sz="1069" dirty="0"/>
          </a:p>
        </p:txBody>
      </p:sp>
      <p:sp>
        <p:nvSpPr>
          <p:cNvPr id="25" name="Text 22"/>
          <p:cNvSpPr/>
          <p:nvPr/>
        </p:nvSpPr>
        <p:spPr>
          <a:xfrm>
            <a:off x="3402769" y="226311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3574219" y="2248830"/>
            <a:ext cx="2166900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assigned to you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descriptions, dates and attachments.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402769" y="262633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3574219" y="2612045"/>
            <a:ext cx="2166900" cy="17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Updates move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 steps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forward.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023297" y="1023342"/>
            <a:ext cx="2659931" cy="2217241"/>
          </a:xfrm>
          <a:prstGeom prst="roundRect">
            <a:avLst>
              <a:gd name="adj" fmla="val 601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8091247" y="1098352"/>
            <a:ext cx="569934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-56" kern="0" dirty="0">
                <a:solidFill>
                  <a:srgbClr val="123527">
                    <a:alpha val="7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475" dirty="0"/>
          </a:p>
        </p:txBody>
      </p:sp>
      <p:sp>
        <p:nvSpPr>
          <p:cNvPr id="31" name="Text 28"/>
          <p:cNvSpPr/>
          <p:nvPr/>
        </p:nvSpPr>
        <p:spPr>
          <a:xfrm>
            <a:off x="6184032" y="1320701"/>
            <a:ext cx="357188" cy="357188"/>
          </a:xfrm>
          <a:prstGeom prst="roundRect">
            <a:avLst>
              <a:gd name="adj" fmla="val 34667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222787" y="1359456"/>
            <a:ext cx="27967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98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898" dirty="0"/>
          </a:p>
        </p:txBody>
      </p:sp>
      <p:sp>
        <p:nvSpPr>
          <p:cNvPr id="33" name="Text 30"/>
          <p:cNvSpPr/>
          <p:nvPr/>
        </p:nvSpPr>
        <p:spPr>
          <a:xfrm>
            <a:off x="6184032" y="1770757"/>
            <a:ext cx="2338462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-17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Chat</a:t>
            </a:r>
            <a:endParaRPr lang="en-US" sz="1069" dirty="0"/>
          </a:p>
        </p:txBody>
      </p:sp>
      <p:sp>
        <p:nvSpPr>
          <p:cNvPr id="34" name="Text 31"/>
          <p:cNvSpPr/>
          <p:nvPr/>
        </p:nvSpPr>
        <p:spPr>
          <a:xfrm>
            <a:off x="6184032" y="208151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6355482" y="2067223"/>
            <a:ext cx="2167012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 in the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bottom navigation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project &amp; team conversations.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184032" y="244472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6355482" y="2430438"/>
            <a:ext cx="2167012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Floating chat bubble on the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 dashboard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too — start on phone, continue on laptop.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184032" y="280794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125" dirty="0"/>
          </a:p>
        </p:txBody>
      </p:sp>
      <p:sp>
        <p:nvSpPr>
          <p:cNvPr id="39" name="Text 36"/>
          <p:cNvSpPr/>
          <p:nvPr/>
        </p:nvSpPr>
        <p:spPr>
          <a:xfrm>
            <a:off x="6355482" y="2793653"/>
            <a:ext cx="2167012" cy="17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decisions inside the </a:t>
            </a:r>
            <a:pPr algn="l" indent="0" marL="0">
              <a:lnSpc>
                <a:spcPts val="1177"/>
              </a:lnSpc>
              <a:buNone/>
            </a:pPr>
            <a:r>
              <a:rPr lang="en-US" sz="759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organisation's record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759" dirty="0"/>
          </a:p>
        </p:txBody>
      </p:sp>
      <p:sp>
        <p:nvSpPr>
          <p:cNvPr id="40" name="Text 37"/>
          <p:cNvSpPr/>
          <p:nvPr/>
        </p:nvSpPr>
        <p:spPr>
          <a:xfrm>
            <a:off x="457200" y="3358455"/>
            <a:ext cx="8229600" cy="785813"/>
          </a:xfrm>
          <a:prstGeom prst="roundRect">
            <a:avLst>
              <a:gd name="adj" fmla="val 16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28650" y="3501219"/>
            <a:ext cx="285750" cy="285750"/>
          </a:xfrm>
          <a:prstGeom prst="roundRect">
            <a:avLst>
              <a:gd name="adj" fmla="val 36667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57582" y="353015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43" name="Text 40"/>
          <p:cNvSpPr/>
          <p:nvPr/>
        </p:nvSpPr>
        <p:spPr>
          <a:xfrm>
            <a:off x="1007269" y="3501219"/>
            <a:ext cx="6731435" cy="185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Notifications — dual channel</a:t>
            </a:r>
            <a:endParaRPr lang="en-US" sz="928" dirty="0"/>
          </a:p>
        </p:txBody>
      </p:sp>
      <p:sp>
        <p:nvSpPr>
          <p:cNvPr id="44" name="Text 41"/>
          <p:cNvSpPr/>
          <p:nvPr/>
        </p:nvSpPr>
        <p:spPr>
          <a:xfrm>
            <a:off x="1007269" y="3713745"/>
            <a:ext cx="6232810" cy="309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 assignments and workflow-step changes, leave decisions, photo approval results, payslip releases and HR announcements arrive as </a:t>
            </a:r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 notification on the phone AND email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same dual-channel alerts as web.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345807" y="3467683"/>
            <a:ext cx="1213835" cy="228029"/>
          </a:xfrm>
          <a:prstGeom prst="roundRect">
            <a:avLst>
              <a:gd name="adj" fmla="val 4172923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7597267" y="3537049"/>
            <a:ext cx="853790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28" kern="0" dirty="0">
                <a:solidFill>
                  <a:srgbClr val="1E4A3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 NOTIFICATION</a:t>
            </a:r>
            <a:endParaRPr lang="en-US" sz="619" dirty="0"/>
          </a:p>
        </p:txBody>
      </p:sp>
      <p:sp>
        <p:nvSpPr>
          <p:cNvPr id="47" name="Text 44"/>
          <p:cNvSpPr/>
          <p:nvPr/>
        </p:nvSpPr>
        <p:spPr>
          <a:xfrm>
            <a:off x="7454392" y="353169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984" dirty="0"/>
          </a:p>
        </p:txBody>
      </p:sp>
      <p:sp>
        <p:nvSpPr>
          <p:cNvPr id="48" name="Text 45"/>
          <p:cNvSpPr/>
          <p:nvPr/>
        </p:nvSpPr>
        <p:spPr>
          <a:xfrm>
            <a:off x="6667798" y="3704927"/>
            <a:ext cx="186898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345807" y="3807012"/>
            <a:ext cx="1213835" cy="228029"/>
          </a:xfrm>
          <a:prstGeom prst="roundRect">
            <a:avLst>
              <a:gd name="adj" fmla="val 4172923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7571000" y="3876377"/>
            <a:ext cx="314954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28" kern="0" dirty="0">
                <a:solidFill>
                  <a:srgbClr val="1E4A3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EMAIL</a:t>
            </a:r>
            <a:endParaRPr lang="en-US" sz="619" dirty="0"/>
          </a:p>
        </p:txBody>
      </p:sp>
      <p:sp>
        <p:nvSpPr>
          <p:cNvPr id="51" name="Text 48"/>
          <p:cNvSpPr/>
          <p:nvPr/>
        </p:nvSpPr>
        <p:spPr>
          <a:xfrm>
            <a:off x="7454392" y="387102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984" dirty="0"/>
          </a:p>
        </p:txBody>
      </p:sp>
      <p:sp>
        <p:nvSpPr>
          <p:cNvPr id="52" name="Text 49"/>
          <p:cNvSpPr/>
          <p:nvPr/>
        </p:nvSpPr>
        <p:spPr>
          <a:xfrm>
            <a:off x="460772" y="4247852"/>
            <a:ext cx="8222456" cy="577751"/>
          </a:xfrm>
          <a:prstGeom prst="roundRect">
            <a:avLst>
              <a:gd name="adj" fmla="val 23081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607219" y="4382691"/>
            <a:ext cx="13483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1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PRACTICAL RHYTHM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1665275" y="4381798"/>
            <a:ext cx="7144" cy="114300"/>
          </a:xfrm>
          <a:prstGeom prst="rect">
            <a:avLst/>
          </a:prstGeom>
          <a:solidFill>
            <a:srgbClr val="D7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1754572" y="4340721"/>
            <a:ext cx="1599195" cy="196453"/>
          </a:xfrm>
          <a:prstGeom prst="roundRect">
            <a:avLst>
              <a:gd name="adj" fmla="val 4843639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1979600" y="4394299"/>
            <a:ext cx="1417030" cy="119703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28" kern="0" dirty="0">
                <a:solidFill>
                  <a:srgbClr val="1E4A3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 THE BELL FIRST THING</a:t>
            </a:r>
            <a:endParaRPr lang="en-US" sz="619" dirty="0"/>
          </a:p>
        </p:txBody>
      </p:sp>
      <p:sp>
        <p:nvSpPr>
          <p:cNvPr id="57" name="Text 54"/>
          <p:cNvSpPr/>
          <p:nvPr/>
        </p:nvSpPr>
        <p:spPr>
          <a:xfrm>
            <a:off x="1836725" y="438894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84" dirty="0"/>
          </a:p>
        </p:txBody>
      </p:sp>
      <p:sp>
        <p:nvSpPr>
          <p:cNvPr id="58" name="Text 55"/>
          <p:cNvSpPr/>
          <p:nvPr/>
        </p:nvSpPr>
        <p:spPr>
          <a:xfrm>
            <a:off x="3435921" y="438537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5" dirty="0"/>
          </a:p>
        </p:txBody>
      </p:sp>
      <p:sp>
        <p:nvSpPr>
          <p:cNvPr id="59" name="Text 56"/>
          <p:cNvSpPr/>
          <p:nvPr/>
        </p:nvSpPr>
        <p:spPr>
          <a:xfrm>
            <a:off x="3621658" y="4324933"/>
            <a:ext cx="722747" cy="228029"/>
          </a:xfrm>
          <a:prstGeom prst="roundRect">
            <a:avLst>
              <a:gd name="adj" fmla="val 4172923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3822255" y="4394299"/>
            <a:ext cx="589443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28" kern="0" dirty="0">
                <a:solidFill>
                  <a:srgbClr val="1E4A3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PUNCH IN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3707383" y="438894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62" name="Text 59"/>
          <p:cNvSpPr/>
          <p:nvPr/>
        </p:nvSpPr>
        <p:spPr>
          <a:xfrm>
            <a:off x="4422986" y="438537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5" dirty="0"/>
          </a:p>
        </p:txBody>
      </p:sp>
      <p:sp>
        <p:nvSpPr>
          <p:cNvPr id="63" name="Text 60"/>
          <p:cNvSpPr/>
          <p:nvPr/>
        </p:nvSpPr>
        <p:spPr>
          <a:xfrm>
            <a:off x="4608723" y="4324933"/>
            <a:ext cx="1458218" cy="228029"/>
          </a:xfrm>
          <a:prstGeom prst="roundRect">
            <a:avLst>
              <a:gd name="adj" fmla="val 4172923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4837323" y="4394299"/>
            <a:ext cx="1268909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28" kern="0" dirty="0">
                <a:solidFill>
                  <a:srgbClr val="1E4A3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THE PROJECTS LIST</a:t>
            </a:r>
            <a:endParaRPr lang="en-US" sz="619" dirty="0"/>
          </a:p>
        </p:txBody>
      </p:sp>
      <p:sp>
        <p:nvSpPr>
          <p:cNvPr id="65" name="Text 62"/>
          <p:cNvSpPr/>
          <p:nvPr/>
        </p:nvSpPr>
        <p:spPr>
          <a:xfrm>
            <a:off x="4694448" y="438894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984" dirty="0"/>
          </a:p>
        </p:txBody>
      </p:sp>
      <p:sp>
        <p:nvSpPr>
          <p:cNvPr id="66" name="Text 63"/>
          <p:cNvSpPr/>
          <p:nvPr/>
        </p:nvSpPr>
        <p:spPr>
          <a:xfrm>
            <a:off x="6145523" y="438537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5" dirty="0"/>
          </a:p>
        </p:txBody>
      </p:sp>
      <p:sp>
        <p:nvSpPr>
          <p:cNvPr id="67" name="Text 64"/>
          <p:cNvSpPr/>
          <p:nvPr/>
        </p:nvSpPr>
        <p:spPr>
          <a:xfrm>
            <a:off x="6331260" y="4324933"/>
            <a:ext cx="813606" cy="228029"/>
          </a:xfrm>
          <a:prstGeom prst="roundRect">
            <a:avLst>
              <a:gd name="adj" fmla="val 4172923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6559860" y="4394299"/>
            <a:ext cx="197692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28" kern="0" dirty="0">
                <a:solidFill>
                  <a:srgbClr val="1E4A3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PUNCH OUT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6416985" y="438894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70" name="Text 67"/>
          <p:cNvSpPr/>
          <p:nvPr/>
        </p:nvSpPr>
        <p:spPr>
          <a:xfrm>
            <a:off x="607219" y="4597896"/>
            <a:ext cx="7929563" cy="13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 flows to </a:t>
            </a:r>
            <a:pPr algn="l" indent="0" marL="0">
              <a:lnSpc>
                <a:spcPts val="1090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assignee and manager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automatically, replacing the 'any update?' follow-up.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659"/>
            <a:ext cx="1990141" cy="1466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3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 &amp; TICKETING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85788"/>
            <a:ext cx="6425491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84"/>
              </a:lnSpc>
              <a:buNone/>
            </a:pPr>
            <a:r>
              <a:rPr lang="en-US" sz="1856" b="1" spc="-39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 Help Desk — one ticketing system, phone and web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7003442" y="769739"/>
            <a:ext cx="1683358" cy="169664"/>
          </a:xfrm>
          <a:prstGeom prst="roundRect">
            <a:avLst>
              <a:gd name="adj" fmla="val 112281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3442" y="769739"/>
            <a:ext cx="1683358" cy="248194"/>
          </a:xfrm>
          <a:prstGeom prst="rect">
            <a:avLst/>
          </a:prstGeom>
          <a:noFill/>
          <a:ln/>
        </p:spPr>
        <p:txBody>
          <a:bodyPr wrap="square" lIns="85725" tIns="28575" rIns="85725" bIns="28575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b="1" spc="4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TO WEB SUPPORT &amp; AI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60772" y="1100138"/>
            <a:ext cx="4577693" cy="850999"/>
          </a:xfrm>
          <a:prstGeom prst="roundRect">
            <a:avLst>
              <a:gd name="adj" fmla="val 15670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7219" y="1418481"/>
            <a:ext cx="214313" cy="214313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7219" y="1418481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21544" y="1384213"/>
            <a:ext cx="3970474" cy="329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 a ticket — tap the Help Desk tile in Quick Access, pick a category, write a clear subject and description; HR/Admin are notified instantly. Cannot sign in? Contact HR on the login screen raises the same ticket pre-login.</a:t>
            </a:r>
            <a:pPr algn="l" indent="0" marL="0">
              <a:lnSpc>
                <a:spcPts val="1114"/>
              </a:lnSpc>
              <a:buNone/>
            </a:pP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0772" y="2044005"/>
            <a:ext cx="4577693" cy="850999"/>
          </a:xfrm>
          <a:prstGeom prst="roundRect">
            <a:avLst>
              <a:gd name="adj" fmla="val 15670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7219" y="2362349"/>
            <a:ext cx="214313" cy="214313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7219" y="2362349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21544" y="2328081"/>
            <a:ext cx="3970474" cy="329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 "My tickets"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live status (open / in progress / resolved / closed); the server enforces self-scope, so nobody sees a colleague's tickets.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2987873"/>
            <a:ext cx="4577693" cy="850999"/>
          </a:xfrm>
          <a:prstGeom prst="roundRect">
            <a:avLst>
              <a:gd name="adj" fmla="val 15670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7219" y="3306217"/>
            <a:ext cx="214313" cy="214313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7219" y="3306217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21544" y="3271949"/>
            <a:ext cx="3970474" cy="329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Reply in the thread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open a ticket, read the full conversation and add comments; every reply reaches HR/Admin on web the moment it lands.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0772" y="3931741"/>
            <a:ext cx="4577693" cy="850999"/>
          </a:xfrm>
          <a:prstGeom prst="roundRect">
            <a:avLst>
              <a:gd name="adj" fmla="val 15670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7219" y="4250085"/>
            <a:ext cx="214313" cy="214313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7219" y="4250085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21544" y="4215817"/>
            <a:ext cx="3970474" cy="329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HR/Admin operations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47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see all tenant tickets, answer from the phone and change ticket status between meetings, without a laptop.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17058" y="1100138"/>
            <a:ext cx="3466170" cy="1303065"/>
          </a:xfrm>
          <a:prstGeom prst="roundRect">
            <a:avLst>
              <a:gd name="adj" fmla="val 1023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63505" y="1218009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91723" y="124622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677830" y="1259086"/>
            <a:ext cx="285895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it syncs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5367077" y="1550194"/>
            <a:ext cx="893415" cy="415900"/>
          </a:xfrm>
          <a:prstGeom prst="roundRect">
            <a:avLst>
              <a:gd name="adj" fmla="val 22902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63505" y="1546622"/>
            <a:ext cx="900559" cy="524029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</a:t>
            </a:r>
            <a:endParaRPr lang="en-US" sz="800" dirty="0"/>
          </a:p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 · reply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21214" y="1650988"/>
            <a:ext cx="1214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6503380" y="1550194"/>
            <a:ext cx="893415" cy="415900"/>
          </a:xfrm>
          <a:prstGeom prst="roundRect">
            <a:avLst>
              <a:gd name="adj" fmla="val 22902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99808" y="1546622"/>
            <a:ext cx="900559" cy="524029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 ticket API</a:t>
            </a:r>
            <a:endParaRPr lang="en-US" sz="800" dirty="0"/>
          </a:p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/api/tickets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57517" y="1650988"/>
            <a:ext cx="1214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7639683" y="1550194"/>
            <a:ext cx="893415" cy="415900"/>
          </a:xfrm>
          <a:prstGeom prst="roundRect">
            <a:avLst>
              <a:gd name="adj" fmla="val 22902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636111" y="1546622"/>
            <a:ext cx="900559" cy="524029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 queue</a:t>
            </a:r>
            <a:endParaRPr lang="en-US" sz="800" dirty="0"/>
          </a:p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 &amp; AI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63505" y="2041103"/>
            <a:ext cx="3173276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queue, two front-ends — start a thread on the phone, finish it on the laptop. Pre-login Contact HR tickets land in the same queue with app + email alerts to HR/Admin/IT.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17058" y="2496071"/>
            <a:ext cx="3466170" cy="2286670"/>
          </a:xfrm>
          <a:prstGeom prst="roundRect">
            <a:avLst>
              <a:gd name="adj" fmla="val 5832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363505" y="3067236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391723" y="309545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5677830" y="3108313"/>
            <a:ext cx="285895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Good ticket hygiene</a:t>
            </a:r>
            <a:endParaRPr lang="en-US" sz="844" dirty="0"/>
          </a:p>
        </p:txBody>
      </p:sp>
      <p:sp>
        <p:nvSpPr>
          <p:cNvPr id="39" name="Text 37"/>
          <p:cNvSpPr/>
          <p:nvPr/>
        </p:nvSpPr>
        <p:spPr>
          <a:xfrm>
            <a:off x="5363505" y="3381561"/>
            <a:ext cx="3173276" cy="936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issue per ticket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descriptive subject — "Payslip September — HRA component wrong" beats "help"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attach context up front; say it in the thread instead of raising duplicates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 HR/Admin change status — tracked, searchable, answered faster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7329488" y="371475"/>
            <a:ext cx="1357313" cy="428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9488" y="371475"/>
            <a:ext cx="1357313" cy="4286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943850" y="-771525"/>
            <a:ext cx="1971675" cy="1971675"/>
          </a:xfrm>
          <a:prstGeom prst="ellipse">
            <a:avLst/>
          </a:prstGeom>
          <a:noFill/>
          <a:ln w="314325">
            <a:solidFill>
              <a:srgbClr val="4A9A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92931" y="2558132"/>
            <a:ext cx="2395500" cy="0"/>
          </a:xfrm>
          <a:prstGeom prst="line">
            <a:avLst/>
          </a:prstGeom>
          <a:noFill/>
          <a:ln w="7144">
            <a:solidFill>
              <a:srgbClr val="D7E6DC"/>
            </a:solidFill>
            <a:prstDash val="dash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92931" y="3228082"/>
            <a:ext cx="2395500" cy="0"/>
          </a:xfrm>
          <a:prstGeom prst="line">
            <a:avLst/>
          </a:prstGeom>
          <a:noFill/>
          <a:ln w="7144">
            <a:solidFill>
              <a:srgbClr val="D7E6DC"/>
            </a:solidFill>
            <a:prstDash val="dash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3374194" y="3357563"/>
            <a:ext cx="2395500" cy="0"/>
          </a:xfrm>
          <a:prstGeom prst="line">
            <a:avLst/>
          </a:prstGeom>
          <a:noFill/>
          <a:ln w="7144">
            <a:solidFill>
              <a:srgbClr val="D7E6DC"/>
            </a:solidFill>
            <a:prstDash val="dash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155457" y="3228082"/>
            <a:ext cx="2395612" cy="0"/>
          </a:xfrm>
          <a:prstGeom prst="line">
            <a:avLst/>
          </a:prstGeom>
          <a:noFill/>
          <a:ln w="7144">
            <a:solidFill>
              <a:srgbClr val="D7E6DC"/>
            </a:solidFill>
            <a:prstDash val="dash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57200" y="411659"/>
            <a:ext cx="1195795" cy="1609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3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MY PROFILE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600075"/>
            <a:ext cx="8636000" cy="29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913" b="1" spc="-5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Self-service with guardrails — know your three tiers</a:t>
            </a:r>
            <a:endParaRPr lang="en-US" sz="1913" dirty="0"/>
          </a:p>
        </p:txBody>
      </p:sp>
      <p:sp>
        <p:nvSpPr>
          <p:cNvPr id="11" name="Text 8"/>
          <p:cNvSpPr/>
          <p:nvPr/>
        </p:nvSpPr>
        <p:spPr>
          <a:xfrm>
            <a:off x="460772" y="1009055"/>
            <a:ext cx="2659819" cy="2685157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70071" y="1131034"/>
            <a:ext cx="851401" cy="190024"/>
          </a:xfrm>
          <a:prstGeom prst="roundRect">
            <a:avLst>
              <a:gd name="adj" fmla="val 10025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5224" y="1141214"/>
            <a:ext cx="96109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 DIRECTLY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624205" y="1172468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90" kern="0" dirty="0">
                <a:solidFill>
                  <a:srgbClr val="5C6F6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TIER 01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592931" y="1410891"/>
            <a:ext cx="23955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FIELDS YOU CAN EDIT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92931" y="159026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771525" y="1582341"/>
            <a:ext cx="2216907" cy="148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Phone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92931" y="177756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771525" y="1769641"/>
            <a:ext cx="2216907" cy="148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Personal email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92931" y="196486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771525" y="1956941"/>
            <a:ext cx="2216907" cy="148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Current &amp; permanent address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92931" y="215216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771525" y="2144241"/>
            <a:ext cx="2216907" cy="148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contacts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92931" y="233946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771525" y="2331541"/>
            <a:ext cx="2216907" cy="148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Blood group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92931" y="266261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764381" y="2647429"/>
            <a:ext cx="2224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Saves immediately.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92931" y="331023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764381" y="3303091"/>
            <a:ext cx="222405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HR/Admin automatically get an </a:t>
            </a:r>
            <a:pPr algn="l" indent="0" marL="0">
              <a:lnSpc>
                <a:spcPts val="1020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in-app notification AND an email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field, old and new values.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242035" y="1009055"/>
            <a:ext cx="2659819" cy="2685157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351334" y="1131034"/>
            <a:ext cx="1118622" cy="190024"/>
          </a:xfrm>
          <a:prstGeom prst="roundRect">
            <a:avLst>
              <a:gd name="adj" fmla="val 100250"/>
            </a:avLst>
          </a:prstGeom>
          <a:solidFill>
            <a:srgbClr val="FDF3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374194" y="1141214"/>
            <a:ext cx="1072902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8A5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HR/ADMIN APPROVAL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05468" y="1172468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90" kern="0" dirty="0">
                <a:solidFill>
                  <a:srgbClr val="5C6F6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TIER 02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3374194" y="1410891"/>
            <a:ext cx="242888" cy="242888"/>
          </a:xfrm>
          <a:prstGeom prst="roundRect">
            <a:avLst>
              <a:gd name="adj" fmla="val 39216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397233" y="1433929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336" dirty="0"/>
          </a:p>
        </p:txBody>
      </p:sp>
      <p:sp>
        <p:nvSpPr>
          <p:cNvPr id="36" name="Text 33"/>
          <p:cNvSpPr/>
          <p:nvPr/>
        </p:nvSpPr>
        <p:spPr>
          <a:xfrm>
            <a:off x="3695663" y="1451967"/>
            <a:ext cx="207403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Profile photo</a:t>
            </a:r>
            <a:endParaRPr lang="en-US" sz="844" dirty="0"/>
          </a:p>
        </p:txBody>
      </p:sp>
      <p:sp>
        <p:nvSpPr>
          <p:cNvPr id="37" name="Text 34"/>
          <p:cNvSpPr/>
          <p:nvPr/>
        </p:nvSpPr>
        <p:spPr>
          <a:xfrm>
            <a:off x="3374194" y="175379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⧖</a:t>
            </a:r>
            <a:endParaRPr lang="en-US" sz="1125" dirty="0"/>
          </a:p>
        </p:txBody>
      </p:sp>
      <p:sp>
        <p:nvSpPr>
          <p:cNvPr id="38" name="Text 35"/>
          <p:cNvSpPr/>
          <p:nvPr/>
        </p:nvSpPr>
        <p:spPr>
          <a:xfrm>
            <a:off x="3545644" y="1739503"/>
            <a:ext cx="22240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Upload parks in a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pending state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; colleagues keep seeing the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current photo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374194" y="211455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125" dirty="0"/>
          </a:p>
        </p:txBody>
      </p:sp>
      <p:sp>
        <p:nvSpPr>
          <p:cNvPr id="40" name="Text 37"/>
          <p:cNvSpPr/>
          <p:nvPr/>
        </p:nvSpPr>
        <p:spPr>
          <a:xfrm>
            <a:off x="3545644" y="2100263"/>
            <a:ext cx="22943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HR/Admin review in the </a:t>
            </a:r>
            <a:pPr algn="l" indent="0" marL="0">
              <a:lnSpc>
                <a:spcPts val="1139"/>
              </a:lnSpc>
              <a:buNone/>
            </a:pPr>
            <a:r>
              <a:rPr lang="en-US" sz="759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Photo Approvals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queue.</a:t>
            </a:r>
            <a:endParaRPr lang="en-US" sz="759" dirty="0"/>
          </a:p>
        </p:txBody>
      </p:sp>
      <p:sp>
        <p:nvSpPr>
          <p:cNvPr id="41" name="Text 38"/>
          <p:cNvSpPr/>
          <p:nvPr/>
        </p:nvSpPr>
        <p:spPr>
          <a:xfrm>
            <a:off x="3374194" y="233064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42" name="Text 39"/>
          <p:cNvSpPr/>
          <p:nvPr/>
        </p:nvSpPr>
        <p:spPr>
          <a:xfrm>
            <a:off x="3545644" y="2316361"/>
            <a:ext cx="22240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Approve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publishes, </a:t>
            </a:r>
            <a:pPr algn="l" indent="0" marL="0">
              <a:lnSpc>
                <a:spcPts val="1139"/>
              </a:lnSpc>
              <a:buNone/>
            </a:pPr>
            <a:r>
              <a:rPr lang="en-US" sz="759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reject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returns a reason.</a:t>
            </a:r>
            <a:endParaRPr lang="en-US" sz="759" dirty="0"/>
          </a:p>
        </p:txBody>
      </p:sp>
      <p:sp>
        <p:nvSpPr>
          <p:cNvPr id="43" name="Text 40"/>
          <p:cNvSpPr/>
          <p:nvPr/>
        </p:nvSpPr>
        <p:spPr>
          <a:xfrm>
            <a:off x="3374194" y="2543711"/>
            <a:ext cx="553306" cy="190024"/>
          </a:xfrm>
          <a:prstGeom prst="roundRect">
            <a:avLst>
              <a:gd name="adj" fmla="val 100250"/>
            </a:avLst>
          </a:prstGeom>
          <a:solidFill>
            <a:srgbClr val="FDF3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372910" y="2553891"/>
            <a:ext cx="55587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8A5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PENDING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970362" y="258871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9DB3A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46" name="Text 43"/>
          <p:cNvSpPr/>
          <p:nvPr/>
        </p:nvSpPr>
        <p:spPr>
          <a:xfrm>
            <a:off x="4113237" y="2543711"/>
            <a:ext cx="638249" cy="190024"/>
          </a:xfrm>
          <a:prstGeom prst="roundRect">
            <a:avLst>
              <a:gd name="adj" fmla="val 10025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4113237" y="2553891"/>
            <a:ext cx="63824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APPROVED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794349" y="2579787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859089" y="2543711"/>
            <a:ext cx="617376" cy="190024"/>
          </a:xfrm>
          <a:prstGeom prst="roundRect">
            <a:avLst>
              <a:gd name="adj" fmla="val 100250"/>
            </a:avLst>
          </a:prstGeom>
          <a:solidFill>
            <a:srgbClr val="F6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4852675" y="2553891"/>
            <a:ext cx="63020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A0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REJECTED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374194" y="343971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52" name="Text 49"/>
          <p:cNvSpPr/>
          <p:nvPr/>
        </p:nvSpPr>
        <p:spPr>
          <a:xfrm>
            <a:off x="3545644" y="3432572"/>
            <a:ext cx="2224050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 are notified either way.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023297" y="1009055"/>
            <a:ext cx="2659931" cy="2685157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6134557" y="1131034"/>
            <a:ext cx="564298" cy="190024"/>
          </a:xfrm>
          <a:prstGeom prst="roundRect">
            <a:avLst>
              <a:gd name="adj" fmla="val 100250"/>
            </a:avLst>
          </a:prstGeom>
          <a:solidFill>
            <a:srgbClr val="F6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6155457" y="1141214"/>
            <a:ext cx="522498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A0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LOCKED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8186842" y="1172468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90" kern="0" dirty="0">
                <a:solidFill>
                  <a:srgbClr val="5C6F6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TIER 03</a:t>
            </a:r>
            <a:endParaRPr lang="en-US" sz="600" dirty="0"/>
          </a:p>
        </p:txBody>
      </p:sp>
      <p:sp>
        <p:nvSpPr>
          <p:cNvPr id="57" name="Text 54"/>
          <p:cNvSpPr/>
          <p:nvPr/>
        </p:nvSpPr>
        <p:spPr>
          <a:xfrm>
            <a:off x="6155457" y="1410891"/>
            <a:ext cx="23956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 FIELDS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6159029" y="1585913"/>
            <a:ext cx="2388468" cy="260747"/>
          </a:xfrm>
          <a:prstGeom prst="roundRect">
            <a:avLst>
              <a:gd name="adj" fmla="val 32877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6248326" y="1662708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A04A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055" dirty="0"/>
          </a:p>
        </p:txBody>
      </p:sp>
      <p:sp>
        <p:nvSpPr>
          <p:cNvPr id="60" name="Text 57"/>
          <p:cNvSpPr/>
          <p:nvPr/>
        </p:nvSpPr>
        <p:spPr>
          <a:xfrm>
            <a:off x="6426919" y="1646634"/>
            <a:ext cx="20312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Date of birth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6159029" y="1910953"/>
            <a:ext cx="2388468" cy="260747"/>
          </a:xfrm>
          <a:prstGeom prst="roundRect">
            <a:avLst>
              <a:gd name="adj" fmla="val 32877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6248326" y="1987748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A04A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055" dirty="0"/>
          </a:p>
        </p:txBody>
      </p:sp>
      <p:sp>
        <p:nvSpPr>
          <p:cNvPr id="63" name="Text 60"/>
          <p:cNvSpPr/>
          <p:nvPr/>
        </p:nvSpPr>
        <p:spPr>
          <a:xfrm>
            <a:off x="6426919" y="1971675"/>
            <a:ext cx="20312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First name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6159029" y="2235994"/>
            <a:ext cx="2388468" cy="260747"/>
          </a:xfrm>
          <a:prstGeom prst="roundRect">
            <a:avLst>
              <a:gd name="adj" fmla="val 32877"/>
            </a:avLst>
          </a:prstGeom>
          <a:solidFill>
            <a:srgbClr val="F0F7F2"/>
          </a:solidFill>
          <a:ln w="7144">
            <a:solidFill>
              <a:srgbClr val="D7E6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6248326" y="2312789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A04A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055" dirty="0"/>
          </a:p>
        </p:txBody>
      </p:sp>
      <p:sp>
        <p:nvSpPr>
          <p:cNvPr id="66" name="Text 63"/>
          <p:cNvSpPr/>
          <p:nvPr/>
        </p:nvSpPr>
        <p:spPr>
          <a:xfrm>
            <a:off x="6426919" y="2296716"/>
            <a:ext cx="20312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 name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6155457" y="259362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5C6F6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125" dirty="0"/>
          </a:p>
        </p:txBody>
      </p:sp>
      <p:sp>
        <p:nvSpPr>
          <p:cNvPr id="68" name="Text 65"/>
          <p:cNvSpPr/>
          <p:nvPr/>
        </p:nvSpPr>
        <p:spPr>
          <a:xfrm>
            <a:off x="6326907" y="2586038"/>
            <a:ext cx="2224162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Fields render </a:t>
            </a:r>
            <a:pPr algn="l" indent="0" marL="0">
              <a:lnSpc>
                <a:spcPts val="1020"/>
              </a:lnSpc>
              <a:buNone/>
            </a:pPr>
            <a:r>
              <a:rPr lang="en-US" sz="703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disabled</a:t>
            </a:r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 mobile and web.</a:t>
            </a:r>
            <a:endParaRPr lang="en-US" sz="703" dirty="0"/>
          </a:p>
        </p:txBody>
      </p:sp>
      <p:sp>
        <p:nvSpPr>
          <p:cNvPr id="69" name="Text 66"/>
          <p:cNvSpPr/>
          <p:nvPr/>
        </p:nvSpPr>
        <p:spPr>
          <a:xfrm>
            <a:off x="6155457" y="331023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70" name="Text 67"/>
          <p:cNvSpPr/>
          <p:nvPr/>
        </p:nvSpPr>
        <p:spPr>
          <a:xfrm>
            <a:off x="6326907" y="3303091"/>
            <a:ext cx="2224162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Wrong identity data → raise with </a:t>
            </a:r>
            <a:pPr algn="l" indent="0" marL="0">
              <a:lnSpc>
                <a:spcPts val="1020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HR/Admin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who correct it from the </a:t>
            </a:r>
            <a:pPr algn="l" indent="0" marL="0">
              <a:lnSpc>
                <a:spcPts val="1020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 module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460772" y="3815655"/>
            <a:ext cx="8222456" cy="1009948"/>
          </a:xfrm>
          <a:prstGeom prst="roundRect">
            <a:avLst>
              <a:gd name="adj" fmla="val 13204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607219" y="3919240"/>
            <a:ext cx="214313" cy="214313"/>
          </a:xfrm>
          <a:prstGeom prst="roundRect">
            <a:avLst>
              <a:gd name="adj" fmla="val 4000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0"/>
          <p:cNvSpPr/>
          <p:nvPr/>
        </p:nvSpPr>
        <p:spPr>
          <a:xfrm>
            <a:off x="626328" y="3938349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195" dirty="0"/>
          </a:p>
        </p:txBody>
      </p:sp>
      <p:sp>
        <p:nvSpPr>
          <p:cNvPr id="74" name="Text 71"/>
          <p:cNvSpPr/>
          <p:nvPr/>
        </p:nvSpPr>
        <p:spPr>
          <a:xfrm>
            <a:off x="900113" y="3943350"/>
            <a:ext cx="7636669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Also inside My Profile</a:t>
            </a:r>
            <a:endParaRPr lang="en-US" sz="872" dirty="0"/>
          </a:p>
        </p:txBody>
      </p:sp>
      <p:sp>
        <p:nvSpPr>
          <p:cNvPr id="75" name="Text 72"/>
          <p:cNvSpPr/>
          <p:nvPr/>
        </p:nvSpPr>
        <p:spPr>
          <a:xfrm>
            <a:off x="607219" y="421213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125" dirty="0"/>
          </a:p>
        </p:txBody>
      </p:sp>
      <p:sp>
        <p:nvSpPr>
          <p:cNvPr id="76" name="Text 73"/>
          <p:cNvSpPr/>
          <p:nvPr/>
        </p:nvSpPr>
        <p:spPr>
          <a:xfrm>
            <a:off x="778669" y="4204990"/>
            <a:ext cx="1735931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Interests</a:t>
            </a:r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chips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2614613" y="421213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78" name="Text 75"/>
          <p:cNvSpPr/>
          <p:nvPr/>
        </p:nvSpPr>
        <p:spPr>
          <a:xfrm>
            <a:off x="2786063" y="4204990"/>
            <a:ext cx="1735931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skills</a:t>
            </a:r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level &amp; years</a:t>
            </a:r>
            <a:endParaRPr lang="en-US" sz="647" dirty="0"/>
          </a:p>
        </p:txBody>
      </p:sp>
      <p:sp>
        <p:nvSpPr>
          <p:cNvPr id="79" name="Text 76"/>
          <p:cNvSpPr/>
          <p:nvPr/>
        </p:nvSpPr>
        <p:spPr>
          <a:xfrm>
            <a:off x="4622006" y="421213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125" dirty="0"/>
          </a:p>
        </p:txBody>
      </p:sp>
      <p:sp>
        <p:nvSpPr>
          <p:cNvPr id="80" name="Text 77"/>
          <p:cNvSpPr/>
          <p:nvPr/>
        </p:nvSpPr>
        <p:spPr>
          <a:xfrm>
            <a:off x="4793456" y="4204990"/>
            <a:ext cx="3743325" cy="30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Experience per company</a:t>
            </a:r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multiple work domains, logo, category &amp; level, and letters (offer / relieving / experience / appraisal)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607219" y="44992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125" dirty="0"/>
          </a:p>
        </p:txBody>
      </p:sp>
      <p:sp>
        <p:nvSpPr>
          <p:cNvPr id="82" name="Text 79"/>
          <p:cNvSpPr/>
          <p:nvPr/>
        </p:nvSpPr>
        <p:spPr>
          <a:xfrm>
            <a:off x="778669" y="4492079"/>
            <a:ext cx="1735931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Achievements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2614613" y="44992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125" dirty="0"/>
          </a:p>
        </p:txBody>
      </p:sp>
      <p:sp>
        <p:nvSpPr>
          <p:cNvPr id="84" name="Text 81"/>
          <p:cNvSpPr/>
          <p:nvPr/>
        </p:nvSpPr>
        <p:spPr>
          <a:xfrm>
            <a:off x="2786063" y="4492079"/>
            <a:ext cx="1735931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Insurance &amp; family</a:t>
            </a:r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details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4622006" y="44992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86" name="Text 83"/>
          <p:cNvSpPr/>
          <p:nvPr/>
        </p:nvSpPr>
        <p:spPr>
          <a:xfrm>
            <a:off x="4793456" y="4492079"/>
            <a:ext cx="1735931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Original birthday</a:t>
            </a:r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(celebrations date — can differ from official DOB)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6629400" y="44992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88" name="Text 85"/>
          <p:cNvSpPr/>
          <p:nvPr/>
        </p:nvSpPr>
        <p:spPr>
          <a:xfrm>
            <a:off x="6800850" y="4492079"/>
            <a:ext cx="1735931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Documents &amp; assigned policies</a:t>
            </a:r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View + Download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4666" y="157163"/>
            <a:ext cx="4459334" cy="1203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5"/>
              </a:lnSpc>
              <a:buNone/>
            </a:pPr>
            <a:r>
              <a:rPr lang="en-US" sz="5850" b="1" spc="-112" kern="0" dirty="0">
                <a:solidFill>
                  <a:srgbClr val="123527">
                    <a:alpha val="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HR/ADMIN</a:t>
            </a:r>
            <a:endParaRPr lang="en-US" sz="5850" dirty="0"/>
          </a:p>
        </p:txBody>
      </p:sp>
      <p:sp>
        <p:nvSpPr>
          <p:cNvPr id="3" name="Text 1"/>
          <p:cNvSpPr/>
          <p:nvPr/>
        </p:nvSpPr>
        <p:spPr>
          <a:xfrm>
            <a:off x="400050" y="425946"/>
            <a:ext cx="1486073" cy="1538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3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HR / ADMIN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00050" y="607219"/>
            <a:ext cx="863600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34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 the organisation from the same app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403622" y="1047229"/>
            <a:ext cx="1581559" cy="2421731"/>
          </a:xfrm>
          <a:prstGeom prst="roundRect">
            <a:avLst>
              <a:gd name="adj" fmla="val 8432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0068" y="120510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514350" y="1565151"/>
            <a:ext cx="136010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 Management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514350" y="1775892"/>
            <a:ext cx="185738" cy="21431"/>
          </a:xfrm>
          <a:prstGeom prst="roundRect">
            <a:avLst>
              <a:gd name="adj" fmla="val 88890"/>
            </a:avLst>
          </a:prstGeom>
          <a:solidFill>
            <a:srgbClr val="4A9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1868760"/>
            <a:ext cx="1360103" cy="132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Directory &amp; list with total experience per employee</a:t>
            </a:r>
            <a:endParaRPr lang="en-US" sz="800" dirty="0"/>
          </a:p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Guided multi-step Add Employee form with the same mandatory-field rules as web</a:t>
            </a:r>
            <a:endParaRPr lang="en-US" sz="800" dirty="0"/>
          </a:p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 documents with download</a:t>
            </a:r>
            <a:endParaRPr lang="en-US" sz="800" dirty="0"/>
          </a:p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Aadhaar QR verification from the verification tab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92337" y="1047229"/>
            <a:ext cx="1581671" cy="2421731"/>
          </a:xfrm>
          <a:prstGeom prst="roundRect">
            <a:avLst>
              <a:gd name="adj" fmla="val 8431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03066" y="1179388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28783" y="120510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14" name="Text 12"/>
          <p:cNvSpPr/>
          <p:nvPr/>
        </p:nvSpPr>
        <p:spPr>
          <a:xfrm>
            <a:off x="2203066" y="1565151"/>
            <a:ext cx="136021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Photo Approvals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2203066" y="1775892"/>
            <a:ext cx="185738" cy="21431"/>
          </a:xfrm>
          <a:prstGeom prst="roundRect">
            <a:avLst>
              <a:gd name="adj" fmla="val 88890"/>
            </a:avLst>
          </a:prstGeom>
          <a:solidFill>
            <a:srgbClr val="4A9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03066" y="1868760"/>
            <a:ext cx="1360215" cy="84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submissions in the queue</a:t>
            </a:r>
            <a:endParaRPr lang="en-US" sz="800" dirty="0"/>
          </a:p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Approve publishes the new photo</a:t>
            </a:r>
            <a:endParaRPr lang="en-US" sz="800" dirty="0"/>
          </a:p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Reject requires a reason</a:t>
            </a:r>
            <a:endParaRPr lang="en-US" sz="800" dirty="0"/>
          </a:p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employee is notified automatically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81165" y="1047229"/>
            <a:ext cx="1581559" cy="2421731"/>
          </a:xfrm>
          <a:prstGeom prst="roundRect">
            <a:avLst>
              <a:gd name="adj" fmla="val 8432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91893" y="1179388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17610" y="120510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3891893" y="1565151"/>
            <a:ext cx="136010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 Desk Ops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3891893" y="1775892"/>
            <a:ext cx="185738" cy="21431"/>
          </a:xfrm>
          <a:prstGeom prst="roundRect">
            <a:avLst>
              <a:gd name="adj" fmla="val 88890"/>
            </a:avLst>
          </a:prstGeom>
          <a:solidFill>
            <a:srgbClr val="4A9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891893" y="1868760"/>
            <a:ext cx="1360103" cy="84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tenant tickets in one queue</a:t>
            </a:r>
            <a:endParaRPr lang="en-US" sz="800" dirty="0"/>
          </a:p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Reply in threads from the phone</a:t>
            </a:r>
            <a:endParaRPr lang="en-US" sz="800" dirty="0"/>
          </a:p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Change ticket status on the go</a:t>
            </a:r>
            <a:endParaRPr lang="en-US" sz="800" dirty="0"/>
          </a:p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 ticketing system as web Support &amp; AI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69880" y="1047229"/>
            <a:ext cx="1581671" cy="2421731"/>
          </a:xfrm>
          <a:prstGeom prst="roundRect">
            <a:avLst>
              <a:gd name="adj" fmla="val 8431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80608" y="1179388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06326" y="120510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6" name="Text 24"/>
          <p:cNvSpPr/>
          <p:nvPr/>
        </p:nvSpPr>
        <p:spPr>
          <a:xfrm>
            <a:off x="5580608" y="1565151"/>
            <a:ext cx="136021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Reports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5580608" y="1775892"/>
            <a:ext cx="185738" cy="21431"/>
          </a:xfrm>
          <a:prstGeom prst="roundRect">
            <a:avLst>
              <a:gd name="adj" fmla="val 88890"/>
            </a:avLst>
          </a:prstGeom>
          <a:solidFill>
            <a:srgbClr val="4A9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80608" y="1868760"/>
            <a:ext cx="1360215" cy="60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Leave, attendance, employees &amp; projects reports</a:t>
            </a:r>
            <a:endParaRPr lang="en-US" sz="800" dirty="0"/>
          </a:p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web admin dashboard's reports, formatted for the phone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58707" y="1047229"/>
            <a:ext cx="1581559" cy="2421731"/>
          </a:xfrm>
          <a:prstGeom prst="roundRect">
            <a:avLst>
              <a:gd name="adj" fmla="val 8432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269435" y="1179388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295153" y="120510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688" dirty="0"/>
          </a:p>
        </p:txBody>
      </p:sp>
      <p:sp>
        <p:nvSpPr>
          <p:cNvPr id="32" name="Text 30"/>
          <p:cNvSpPr/>
          <p:nvPr/>
        </p:nvSpPr>
        <p:spPr>
          <a:xfrm>
            <a:off x="7269435" y="1565151"/>
            <a:ext cx="136010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Attendance</a:t>
            </a:r>
            <a:endParaRPr lang="en-US" sz="844" dirty="0"/>
          </a:p>
        </p:txBody>
      </p:sp>
      <p:sp>
        <p:nvSpPr>
          <p:cNvPr id="33" name="Text 31"/>
          <p:cNvSpPr/>
          <p:nvPr/>
        </p:nvSpPr>
        <p:spPr>
          <a:xfrm>
            <a:off x="7269435" y="1775892"/>
            <a:ext cx="185738" cy="21431"/>
          </a:xfrm>
          <a:prstGeom prst="roundRect">
            <a:avLst>
              <a:gd name="adj" fmla="val 88890"/>
            </a:avLst>
          </a:prstGeom>
          <a:solidFill>
            <a:srgbClr val="4A9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269435" y="1868760"/>
            <a:ext cx="1360103" cy="48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Day view of present / on leave / missing punches</a:t>
            </a:r>
            <a:endParaRPr lang="en-US" sz="800" dirty="0"/>
          </a:p>
          <a:p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4A9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8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Daily status entry for supervisors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00050" y="3586832"/>
            <a:ext cx="8343900" cy="990749"/>
          </a:xfrm>
          <a:prstGeom prst="roundRect">
            <a:avLst>
              <a:gd name="adj" fmla="val 134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00050" y="3590404"/>
            <a:ext cx="8343900" cy="0"/>
          </a:xfrm>
          <a:prstGeom prst="line">
            <a:avLst/>
          </a:prstGeom>
          <a:noFill/>
          <a:ln w="7144">
            <a:solidFill>
              <a:srgbClr val="D7E6DC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8740378" y="3586832"/>
            <a:ext cx="0" cy="990749"/>
          </a:xfrm>
          <a:prstGeom prst="line">
            <a:avLst/>
          </a:prstGeom>
          <a:noFill/>
          <a:ln w="7144">
            <a:solidFill>
              <a:srgbClr val="D7E6DC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00050" y="4574009"/>
            <a:ext cx="8343900" cy="0"/>
          </a:xfrm>
          <a:prstGeom prst="line">
            <a:avLst/>
          </a:prstGeom>
          <a:noFill/>
          <a:ln w="7144">
            <a:solidFill>
              <a:srgbClr val="D7E6DC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14338" y="3586832"/>
            <a:ext cx="0" cy="990749"/>
          </a:xfrm>
          <a:prstGeom prst="line">
            <a:avLst/>
          </a:prstGeom>
          <a:noFill/>
          <a:ln w="28575">
            <a:solidFill>
              <a:srgbClr val="1F7A4D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14363" y="3729707"/>
            <a:ext cx="79367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RECOMMENDED ROUTINE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4363" y="3947592"/>
            <a:ext cx="150019" cy="150019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4363" y="3947592"/>
            <a:ext cx="1821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8675" y="3940448"/>
            <a:ext cx="1655403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Team Attendance every morning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2453878" y="395473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36" dirty="0"/>
          </a:p>
        </p:txBody>
      </p:sp>
      <p:sp>
        <p:nvSpPr>
          <p:cNvPr id="45" name="Text 43"/>
          <p:cNvSpPr/>
          <p:nvPr/>
        </p:nvSpPr>
        <p:spPr>
          <a:xfrm>
            <a:off x="2675334" y="3947592"/>
            <a:ext cx="150019" cy="150019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675334" y="3947592"/>
            <a:ext cx="1821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889647" y="3940448"/>
            <a:ext cx="1631847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Clear pending leave approvals before lunch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14850" y="395473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36" dirty="0"/>
          </a:p>
        </p:txBody>
      </p:sp>
      <p:sp>
        <p:nvSpPr>
          <p:cNvPr id="49" name="Text 47"/>
          <p:cNvSpPr/>
          <p:nvPr/>
        </p:nvSpPr>
        <p:spPr>
          <a:xfrm>
            <a:off x="4736306" y="3947592"/>
            <a:ext cx="150019" cy="150019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736306" y="3947592"/>
            <a:ext cx="1821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50619" y="3940448"/>
            <a:ext cx="1631847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Skim Reports weekly to catch trends (rising regularisations, unused leave)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575822" y="395473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4A9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36" dirty="0"/>
          </a:p>
        </p:txBody>
      </p:sp>
      <p:sp>
        <p:nvSpPr>
          <p:cNvPr id="53" name="Text 51"/>
          <p:cNvSpPr/>
          <p:nvPr/>
        </p:nvSpPr>
        <p:spPr>
          <a:xfrm>
            <a:off x="6797278" y="3947592"/>
            <a:ext cx="150019" cy="150019"/>
          </a:xfrm>
          <a:prstGeom prst="ellipse">
            <a:avLst/>
          </a:prstGeom>
          <a:solidFill>
            <a:srgbClr val="1F7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797278" y="3947592"/>
            <a:ext cx="1821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011591" y="3940448"/>
            <a:ext cx="163091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every employee's Original Birthday filled so month-long birthday celebrations and the automatic greeting fire correctly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54509"/>
            <a:ext cx="1310132" cy="1466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3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528638"/>
            <a:ext cx="4785230" cy="26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28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Who can do what — the same model as web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6063258" y="593824"/>
            <a:ext cx="565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LEGEND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01036" y="552390"/>
            <a:ext cx="338770" cy="190024"/>
          </a:xfrm>
          <a:prstGeom prst="roundRect">
            <a:avLst>
              <a:gd name="adj" fmla="val 100250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01036" y="562570"/>
            <a:ext cx="33877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96956" y="544389"/>
            <a:ext cx="400385" cy="206026"/>
          </a:xfrm>
          <a:prstGeom prst="roundRect">
            <a:avLst>
              <a:gd name="adj" fmla="val 92464"/>
            </a:avLst>
          </a:prstGeom>
          <a:solidFill>
            <a:srgbClr val="FFFFFF"/>
          </a:solidFill>
          <a:ln w="7144">
            <a:solidFill>
              <a:srgbClr val="B7CFC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96956" y="555427"/>
            <a:ext cx="40038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3560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VIEW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54491" y="552390"/>
            <a:ext cx="457200" cy="190024"/>
          </a:xfrm>
          <a:prstGeom prst="roundRect">
            <a:avLst>
              <a:gd name="adj" fmla="val 100250"/>
            </a:avLst>
          </a:prstGeom>
          <a:solidFill>
            <a:srgbClr val="FDF3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54491" y="562570"/>
            <a:ext cx="45720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8A5A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VIA HR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68841" y="552390"/>
            <a:ext cx="522498" cy="190024"/>
          </a:xfrm>
          <a:prstGeom prst="roundRect">
            <a:avLst>
              <a:gd name="adj" fmla="val 100250"/>
            </a:avLst>
          </a:prstGeom>
          <a:solidFill>
            <a:srgbClr val="1235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68841" y="562570"/>
            <a:ext cx="522498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F2F8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LOCKED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48489" y="552390"/>
            <a:ext cx="295461" cy="190024"/>
          </a:xfrm>
          <a:prstGeom prst="roundRect">
            <a:avLst>
              <a:gd name="adj" fmla="val 100250"/>
            </a:avLst>
          </a:prstGeom>
          <a:solidFill>
            <a:srgbClr val="F6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48489" y="562570"/>
            <a:ext cx="29546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5" kern="0" dirty="0">
                <a:solidFill>
                  <a:srgbClr val="A0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878681"/>
            <a:ext cx="8336756" cy="3771900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7194" y="882253"/>
          <a:ext cx="8329613" cy="914400"/>
        </p:xfrm>
        <a:graphic>
          <a:graphicData uri="http://schemas.openxmlformats.org/drawingml/2006/table">
            <a:tbl>
              <a:tblPr/>
              <a:tblGrid>
                <a:gridCol w="3831617"/>
                <a:gridCol w="1499295"/>
                <a:gridCol w="1499295"/>
                <a:gridCol w="149940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Capability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28588" marT="128588" marB="64294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Employee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28588" marT="128588" marB="64294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HR / Admin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28588" marT="128588" marB="64294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CEO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28588" marT="128588" marB="64294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0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Check in/out, breaks, regularisation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Apply for leave (self)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Approve or reject leave, apply on behalf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View own payslips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Employee directory with experience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Add / view employees, documents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View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Reports (leave/attendance/employees/projects)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Team attendance + daily status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Approve / reject profile photos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Edit own contact details (HR notified)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Edit DOB / first / last name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Locked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Via HR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Send birthday wishes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Raise &amp; reply to Help Desk tickets (self-scope)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View all tickets &amp; change ticket status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View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Chat on projects &amp; teams (mobile + web)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31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128588" marT="128588" marB="35719" anchor="ctr">
                    <a:lnL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00050" y="472916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95" dirty="0"/>
          </a:p>
        </p:txBody>
      </p:sp>
      <p:sp>
        <p:nvSpPr>
          <p:cNvPr id="18" name="Text 15"/>
          <p:cNvSpPr/>
          <p:nvPr/>
        </p:nvSpPr>
        <p:spPr>
          <a:xfrm>
            <a:off x="578644" y="4725591"/>
            <a:ext cx="81653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C6F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sensitive action is validated server-side — </a:t>
            </a:r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app never grants a right the web would deny.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425946"/>
            <a:ext cx="1114268" cy="1538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35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607219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8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habits, nine fixes, one escalation path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3622" y="987958"/>
            <a:ext cx="3021806" cy="3350419"/>
          </a:xfrm>
          <a:prstGeom prst="roundRect">
            <a:avLst>
              <a:gd name="adj" fmla="val 4413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4356" y="1134405"/>
            <a:ext cx="2700338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spc="-11" kern="0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Golden rules</a:t>
            </a:r>
            <a:endParaRPr lang="en-US" sz="928" dirty="0"/>
          </a:p>
        </p:txBody>
      </p:sp>
      <p:sp>
        <p:nvSpPr>
          <p:cNvPr id="6" name="Text 4"/>
          <p:cNvSpPr/>
          <p:nvPr/>
        </p:nvSpPr>
        <p:spPr>
          <a:xfrm>
            <a:off x="564356" y="1368363"/>
            <a:ext cx="185738" cy="21431"/>
          </a:xfrm>
          <a:prstGeom prst="roundRect">
            <a:avLst>
              <a:gd name="adj" fmla="val 88890"/>
            </a:avLst>
          </a:prstGeom>
          <a:solidFill>
            <a:srgbClr val="4A9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4356" y="1595289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8" name="Text 6"/>
          <p:cNvSpPr/>
          <p:nvPr/>
        </p:nvSpPr>
        <p:spPr>
          <a:xfrm>
            <a:off x="785813" y="1597968"/>
            <a:ext cx="2478881" cy="158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8"/>
              </a:lnSpc>
              <a:buNone/>
            </a:pPr>
            <a:r>
              <a:rPr lang="en-US" sz="709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Punch in and out every working day with location enabled</a:t>
            </a:r>
            <a:endParaRPr lang="en-US" sz="709" dirty="0"/>
          </a:p>
        </p:txBody>
      </p:sp>
      <p:sp>
        <p:nvSpPr>
          <p:cNvPr id="9" name="Shape 7"/>
          <p:cNvSpPr/>
          <p:nvPr/>
        </p:nvSpPr>
        <p:spPr>
          <a:xfrm>
            <a:off x="564356" y="1897335"/>
            <a:ext cx="2700338" cy="0"/>
          </a:xfrm>
          <a:prstGeom prst="line">
            <a:avLst/>
          </a:prstGeom>
          <a:noFill/>
          <a:ln w="7144">
            <a:solidFill>
              <a:srgbClr val="E4EFE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64356" y="2063539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11" name="Text 9"/>
          <p:cNvSpPr/>
          <p:nvPr/>
        </p:nvSpPr>
        <p:spPr>
          <a:xfrm>
            <a:off x="785813" y="2001031"/>
            <a:ext cx="2478881" cy="317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8"/>
              </a:lnSpc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Apply for leave in advance — regularisation only for genuine misses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4356" y="2365586"/>
            <a:ext cx="2700338" cy="0"/>
          </a:xfrm>
          <a:prstGeom prst="line">
            <a:avLst/>
          </a:prstGeom>
          <a:noFill/>
          <a:ln w="7144">
            <a:solidFill>
              <a:srgbClr val="E4EF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4356" y="2531790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14" name="Text 12"/>
          <p:cNvSpPr/>
          <p:nvPr/>
        </p:nvSpPr>
        <p:spPr>
          <a:xfrm>
            <a:off x="785813" y="2469282"/>
            <a:ext cx="2478881" cy="317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8"/>
              </a:lnSpc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your profile current — phone, address, emergency contacts, skills, experience letters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64356" y="2833836"/>
            <a:ext cx="2700338" cy="0"/>
          </a:xfrm>
          <a:prstGeom prst="line">
            <a:avLst/>
          </a:prstGeom>
          <a:noFill/>
          <a:ln w="7144">
            <a:solidFill>
              <a:srgbClr val="E4EFE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4356" y="3000040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17" name="Text 15"/>
          <p:cNvSpPr/>
          <p:nvPr/>
        </p:nvSpPr>
        <p:spPr>
          <a:xfrm>
            <a:off x="785813" y="2937532"/>
            <a:ext cx="2478881" cy="317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8"/>
              </a:lnSpc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Never share your login or install the APK from unofficial sources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4356" y="3302087"/>
            <a:ext cx="2700338" cy="0"/>
          </a:xfrm>
          <a:prstGeom prst="line">
            <a:avLst/>
          </a:prstGeom>
          <a:noFill/>
          <a:ln w="7144">
            <a:solidFill>
              <a:srgbClr val="E4EFE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64356" y="3468291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20" name="Text 18"/>
          <p:cNvSpPr/>
          <p:nvPr/>
        </p:nvSpPr>
        <p:spPr>
          <a:xfrm>
            <a:off x="785813" y="3405783"/>
            <a:ext cx="2478881" cy="317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8"/>
              </a:lnSpc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 the notification bell daily and act on approvals the same day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64356" y="3770337"/>
            <a:ext cx="2700338" cy="0"/>
          </a:xfrm>
          <a:prstGeom prst="line">
            <a:avLst/>
          </a:prstGeom>
          <a:noFill/>
          <a:ln w="7144">
            <a:solidFill>
              <a:srgbClr val="E4EFE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64356" y="3936541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23" name="Text 21"/>
          <p:cNvSpPr/>
          <p:nvPr/>
        </p:nvSpPr>
        <p:spPr>
          <a:xfrm>
            <a:off x="785813" y="3874033"/>
            <a:ext cx="2478881" cy="317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8"/>
              </a:lnSpc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 a Help Desk ticket instead of side-channel messages — tracked, searchable, answered faster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61159" y="987958"/>
            <a:ext cx="5179219" cy="3350419"/>
          </a:xfrm>
          <a:prstGeom prst="roundRect">
            <a:avLst>
              <a:gd name="adj" fmla="val 3980"/>
            </a:avLst>
          </a:prstGeom>
          <a:solidFill>
            <a:srgbClr val="FFFFFF"/>
          </a:solidFill>
          <a:ln w="7144">
            <a:solidFill>
              <a:srgbClr val="D7E6DC"/>
            </a:solidFill>
            <a:prstDash val="solid"/>
          </a:ln>
          <a:effectLst>
            <a:outerShdw sx="100000" sy="100000" kx="0" ky="0" algn="bl" rotWithShape="0" blurRad="38100" dist="9525" dir="5400000">
              <a:srgbClr val="123527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64731" y="991530"/>
            <a:ext cx="5172075" cy="269677"/>
          </a:xfrm>
          <a:prstGeom prst="rect">
            <a:avLst/>
          </a:prstGeom>
          <a:solidFill>
            <a:srgbClr val="3560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707606" y="1070111"/>
            <a:ext cx="175079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9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64906" y="1070111"/>
            <a:ext cx="362902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9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FIX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07606" y="1392138"/>
            <a:ext cx="1571625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APK blocked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79206" y="1323826"/>
            <a:ext cx="3514725" cy="318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5"/>
              </a:lnSpc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Allow 'Install unknown apps' for the browser, reopen the file; upgrades install over the old app.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64731" y="1642728"/>
            <a:ext cx="5172075" cy="0"/>
          </a:xfrm>
          <a:prstGeom prst="line">
            <a:avLst/>
          </a:prstGeom>
          <a:noFill/>
          <a:ln w="7144">
            <a:solidFill>
              <a:srgbClr val="E4EFE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707606" y="1777231"/>
            <a:ext cx="1571625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Cannot sign 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79206" y="1708919"/>
            <a:ext cx="3514725" cy="31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5"/>
              </a:lnSpc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Verify credentials on web login; check the registered number; update the APK; ask HR/Admin for a reset — or use Contact HR on the login screen to raise a ticket.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564731" y="2027820"/>
            <a:ext cx="5172075" cy="0"/>
          </a:xfrm>
          <a:prstGeom prst="line">
            <a:avLst/>
          </a:prstGeom>
          <a:noFill/>
          <a:ln w="7144">
            <a:solidFill>
              <a:srgbClr val="E4EFE8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707606" y="2162324"/>
            <a:ext cx="1571625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OTP not received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79206" y="2094012"/>
            <a:ext cx="3514725" cy="31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5"/>
              </a:lnSpc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 travels by SMS AND email in parallel — check both; the chip shows which channel carried it. Still nothing? "Raise a ticket to HR" alerts HR/Admin/IT instantly.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564731" y="2412913"/>
            <a:ext cx="5172075" cy="0"/>
          </a:xfrm>
          <a:prstGeom prst="line">
            <a:avLst/>
          </a:prstGeom>
          <a:noFill/>
          <a:ln w="7144">
            <a:solidFill>
              <a:srgbClr val="E4EFE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707606" y="2547417"/>
            <a:ext cx="1571625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Ticket stuck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79206" y="2479104"/>
            <a:ext cx="3514725" cy="31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5"/>
              </a:lnSpc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Reply in the thread with details — HR/Admin see it instantly; only HR/Admin change ticket status.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564731" y="2798006"/>
            <a:ext cx="5172075" cy="0"/>
          </a:xfrm>
          <a:prstGeom prst="line">
            <a:avLst/>
          </a:prstGeom>
          <a:noFill/>
          <a:ln w="7144">
            <a:solidFill>
              <a:srgbClr val="E4EFE8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707606" y="2932509"/>
            <a:ext cx="1571625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GPS punch rejected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79206" y="2927375"/>
            <a:ext cx="3514725" cy="15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5"/>
              </a:lnSpc>
              <a:buNone/>
            </a:pPr>
            <a:r>
              <a:rPr lang="en-US" sz="686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Enable app location permission, remove fake-GPS apps, retry near a window.</a:t>
            </a:r>
            <a:endParaRPr lang="en-US" sz="686" dirty="0"/>
          </a:p>
        </p:txBody>
      </p:sp>
      <p:sp>
        <p:nvSpPr>
          <p:cNvPr id="42" name="Shape 40"/>
          <p:cNvSpPr/>
          <p:nvPr/>
        </p:nvSpPr>
        <p:spPr>
          <a:xfrm>
            <a:off x="3564731" y="3183099"/>
            <a:ext cx="5172075" cy="0"/>
          </a:xfrm>
          <a:prstGeom prst="line">
            <a:avLst/>
          </a:prstGeom>
          <a:noFill/>
          <a:ln w="7144">
            <a:solidFill>
              <a:srgbClr val="E4EFE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707606" y="3317602"/>
            <a:ext cx="1571625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looks stale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79206" y="3312468"/>
            <a:ext cx="3514725" cy="15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5"/>
              </a:lnSpc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Pull to refresh; verify on web; ask HR to confirm save/release.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564731" y="3568192"/>
            <a:ext cx="5172075" cy="0"/>
          </a:xfrm>
          <a:prstGeom prst="line">
            <a:avLst/>
          </a:prstGeom>
          <a:noFill/>
          <a:ln w="7144">
            <a:solidFill>
              <a:srgbClr val="E4EFE8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707606" y="3702695"/>
            <a:ext cx="1571625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Notification missed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79206" y="3697560"/>
            <a:ext cx="3514725" cy="15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5"/>
              </a:lnSpc>
              <a:buNone/>
            </a:pPr>
            <a:r>
              <a:rPr lang="en-US" sz="800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the bell tile; check Android notification permission.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564731" y="3953284"/>
            <a:ext cx="5172075" cy="0"/>
          </a:xfrm>
          <a:prstGeom prst="line">
            <a:avLst/>
          </a:prstGeom>
          <a:noFill/>
          <a:ln w="7144">
            <a:solidFill>
              <a:srgbClr val="E4EFE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707606" y="4087788"/>
            <a:ext cx="1571625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Change locked/rejected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79206" y="4082653"/>
            <a:ext cx="3514725" cy="15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5"/>
              </a:lnSpc>
              <a:buNone/>
            </a:pPr>
            <a:r>
              <a:rPr lang="en-US" sz="686" dirty="0">
                <a:solidFill>
                  <a:srgbClr val="2231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 fields locked by policy — contact HR/Admin; photo rejections include a reason.</a:t>
            </a:r>
            <a:endParaRPr lang="en-US" sz="686" dirty="0"/>
          </a:p>
        </p:txBody>
      </p:sp>
      <p:sp>
        <p:nvSpPr>
          <p:cNvPr id="51" name="Text 49"/>
          <p:cNvSpPr/>
          <p:nvPr/>
        </p:nvSpPr>
        <p:spPr>
          <a:xfrm>
            <a:off x="400050" y="4441961"/>
            <a:ext cx="8343900" cy="442913"/>
          </a:xfrm>
          <a:prstGeom prst="roundRect">
            <a:avLst>
              <a:gd name="adj" fmla="val 25806"/>
            </a:avLst>
          </a:prstGeom>
          <a:solidFill>
            <a:srgbClr val="E2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57213" y="4604482"/>
            <a:ext cx="9300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1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ESCALATION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340793" y="4536316"/>
            <a:ext cx="633673" cy="254203"/>
          </a:xfrm>
          <a:prstGeom prst="roundRect">
            <a:avLst>
              <a:gd name="adj" fmla="val 74940"/>
            </a:avLst>
          </a:prstGeom>
          <a:solidFill>
            <a:srgbClr val="FFFFFF"/>
          </a:solidFill>
          <a:ln w="7144">
            <a:solidFill>
              <a:srgbClr val="C7DD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340793" y="4549118"/>
            <a:ext cx="63367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067334" y="45991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56" name="Text 54"/>
          <p:cNvSpPr/>
          <p:nvPr/>
        </p:nvSpPr>
        <p:spPr>
          <a:xfrm>
            <a:off x="2288791" y="4536316"/>
            <a:ext cx="642938" cy="254203"/>
          </a:xfrm>
          <a:prstGeom prst="roundRect">
            <a:avLst>
              <a:gd name="adj" fmla="val 74940"/>
            </a:avLst>
          </a:prstGeom>
          <a:solidFill>
            <a:srgbClr val="FFFFFF"/>
          </a:solidFill>
          <a:ln w="7144">
            <a:solidFill>
              <a:srgbClr val="C7DD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288791" y="4549118"/>
            <a:ext cx="6429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HR/Admin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024597" y="45991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59" name="Text 57"/>
          <p:cNvSpPr/>
          <p:nvPr/>
        </p:nvSpPr>
        <p:spPr>
          <a:xfrm>
            <a:off x="3246053" y="4536316"/>
            <a:ext cx="747861" cy="254203"/>
          </a:xfrm>
          <a:prstGeom prst="roundRect">
            <a:avLst>
              <a:gd name="adj" fmla="val 74940"/>
            </a:avLst>
          </a:prstGeom>
          <a:solidFill>
            <a:srgbClr val="FFFFFF"/>
          </a:solidFill>
          <a:ln w="7144">
            <a:solidFill>
              <a:srgbClr val="C7DD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3246053" y="4549118"/>
            <a:ext cx="7478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235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 admin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101071" y="4601803"/>
            <a:ext cx="44857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i="1" dirty="0">
                <a:solidFill>
                  <a:srgbClr val="4E61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(include app version and affected account)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3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014412" y="3271838"/>
            <a:ext cx="3028950" cy="3028950"/>
          </a:xfrm>
          <a:prstGeom prst="ellipse">
            <a:avLst/>
          </a:prstGeom>
          <a:noFill/>
          <a:ln w="328613">
            <a:solidFill>
              <a:srgbClr val="4A9A6A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07694" y="1193006"/>
            <a:ext cx="328613" cy="28575"/>
          </a:xfrm>
          <a:prstGeom prst="roundRect">
            <a:avLst>
              <a:gd name="adj" fmla="val 66667"/>
            </a:avLst>
          </a:prstGeom>
          <a:solidFill>
            <a:srgbClr val="4A9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320" y="1393031"/>
            <a:ext cx="8595248" cy="414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24"/>
              </a:lnSpc>
              <a:buNone/>
            </a:pPr>
            <a:r>
              <a:rPr lang="en-US" sz="2700" b="1" spc="-56" kern="0" dirty="0">
                <a:solidFill>
                  <a:srgbClr val="F2F8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 are </a:t>
            </a:r>
            <a:pPr algn="ctr" indent="0" marL="0">
              <a:lnSpc>
                <a:spcPts val="3024"/>
              </a:lnSpc>
              <a:buNone/>
            </a:pPr>
            <a:r>
              <a:rPr lang="en-US" sz="2700" b="1" spc="-56" kern="0" dirty="0">
                <a:solidFill>
                  <a:srgbClr val="7FC79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ready to go</a:t>
            </a:r>
            <a:pPr algn="ctr" indent="0" marL="0">
              <a:lnSpc>
                <a:spcPts val="3024"/>
              </a:lnSpc>
              <a:buNone/>
            </a:pPr>
            <a:r>
              <a:rPr lang="en-US" sz="2700" b="1" spc="-56" kern="0" dirty="0">
                <a:solidFill>
                  <a:srgbClr val="F2F8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908288" y="1993776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7FC7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6" name="Text 4"/>
          <p:cNvSpPr/>
          <p:nvPr/>
        </p:nvSpPr>
        <p:spPr>
          <a:xfrm>
            <a:off x="3136888" y="1991320"/>
            <a:ext cx="3098713" cy="167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F2F8F4">
                    <a:alpha val="93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Install v1.7.0 from your workspace's web login page and sign in</a:t>
            </a:r>
            <a:endParaRPr lang="en-US" sz="872" dirty="0"/>
          </a:p>
        </p:txBody>
      </p:sp>
      <p:sp>
        <p:nvSpPr>
          <p:cNvPr id="7" name="Text 5"/>
          <p:cNvSpPr/>
          <p:nvPr/>
        </p:nvSpPr>
        <p:spPr>
          <a:xfrm>
            <a:off x="2734270" y="2248719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7FC7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8" name="Text 6"/>
          <p:cNvSpPr/>
          <p:nvPr/>
        </p:nvSpPr>
        <p:spPr>
          <a:xfrm>
            <a:off x="2962870" y="2246263"/>
            <a:ext cx="3446748" cy="16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F2F8F4">
                    <a:alpha val="93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Punch in with GPS, apply leave ahead of time, check payslips yourself</a:t>
            </a:r>
            <a:endParaRPr lang="en-US" sz="872" dirty="0"/>
          </a:p>
        </p:txBody>
      </p:sp>
      <p:sp>
        <p:nvSpPr>
          <p:cNvPr id="9" name="Text 7"/>
          <p:cNvSpPr/>
          <p:nvPr/>
        </p:nvSpPr>
        <p:spPr>
          <a:xfrm>
            <a:off x="2728354" y="2503661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7FC7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10" name="Text 8"/>
          <p:cNvSpPr/>
          <p:nvPr/>
        </p:nvSpPr>
        <p:spPr>
          <a:xfrm>
            <a:off x="2956954" y="2501205"/>
            <a:ext cx="3458580" cy="16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F2F8F4">
                    <a:alpha val="93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 My Profile — skills, experience, achievements, family details</a:t>
            </a:r>
            <a:endParaRPr lang="en-US" sz="872" dirty="0"/>
          </a:p>
        </p:txBody>
      </p:sp>
      <p:sp>
        <p:nvSpPr>
          <p:cNvPr id="11" name="Text 9"/>
          <p:cNvSpPr/>
          <p:nvPr/>
        </p:nvSpPr>
        <p:spPr>
          <a:xfrm>
            <a:off x="2609143" y="2758604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7FC7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12" name="Text 10"/>
          <p:cNvSpPr/>
          <p:nvPr/>
        </p:nvSpPr>
        <p:spPr>
          <a:xfrm>
            <a:off x="2837743" y="2756148"/>
            <a:ext cx="3697114" cy="16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F2F8F4">
                    <a:alpha val="93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HR/Admin: clear approvals daily and watch Team Attendance each morning</a:t>
            </a:r>
            <a:endParaRPr lang="en-US" sz="872" dirty="0"/>
          </a:p>
        </p:txBody>
      </p:sp>
      <p:sp>
        <p:nvSpPr>
          <p:cNvPr id="13" name="Text 11"/>
          <p:cNvSpPr/>
          <p:nvPr/>
        </p:nvSpPr>
        <p:spPr>
          <a:xfrm>
            <a:off x="2643188" y="3139678"/>
            <a:ext cx="3857625" cy="7144"/>
          </a:xfrm>
          <a:prstGeom prst="rect">
            <a:avLst/>
          </a:prstGeom>
          <a:solidFill>
            <a:srgbClr val="F2F8F4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20678" y="3318272"/>
            <a:ext cx="33026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F2F8F4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3Boxes HRMS Mobile App · SOP &amp; Training Guide · App v1.7.0 (build 34)</a:t>
            </a:r>
            <a:endParaRPr lang="en-US" sz="759" dirty="0"/>
          </a:p>
        </p:txBody>
      </p:sp>
      <p:sp>
        <p:nvSpPr>
          <p:cNvPr id="15" name="Text 13"/>
          <p:cNvSpPr/>
          <p:nvPr/>
        </p:nvSpPr>
        <p:spPr>
          <a:xfrm>
            <a:off x="2894335" y="3527227"/>
            <a:ext cx="33553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2F8F4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Download: your company workspace web login page · Support: your HR/Admin team</a:t>
            </a:r>
            <a:endParaRPr lang="en-US" sz="703" dirty="0"/>
          </a:p>
        </p:txBody>
      </p:sp>
      <p:sp>
        <p:nvSpPr>
          <p:cNvPr id="16" name="Text 14"/>
          <p:cNvSpPr/>
          <p:nvPr/>
        </p:nvSpPr>
        <p:spPr>
          <a:xfrm>
            <a:off x="3487519" y="3775472"/>
            <a:ext cx="21689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146" kern="0" dirty="0">
                <a:solidFill>
                  <a:srgbClr val="F2F8F4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3BOXES HRMS · EDITION 2026.10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2026-10-25T06:49:01Z</dcterms:created>
  <dcterms:modified xsi:type="dcterms:W3CDTF">2026-10-25T06:49:01Z</dcterms:modified>
</cp:coreProperties>
</file>